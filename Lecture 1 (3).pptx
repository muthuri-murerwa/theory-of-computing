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notesMasterIdLst>
    <p:notesMasterId r:id="rId58"/>
  </p:notesMasterIdLst>
  <p:sldIdLst>
    <p:sldId id="256" r:id="rId2"/>
    <p:sldId id="406" r:id="rId3"/>
    <p:sldId id="407" r:id="rId4"/>
    <p:sldId id="408" r:id="rId5"/>
    <p:sldId id="281" r:id="rId6"/>
    <p:sldId id="282" r:id="rId7"/>
    <p:sldId id="283" r:id="rId8"/>
    <p:sldId id="284" r:id="rId9"/>
    <p:sldId id="409" r:id="rId10"/>
    <p:sldId id="412" r:id="rId11"/>
    <p:sldId id="287" r:id="rId12"/>
    <p:sldId id="286" r:id="rId13"/>
    <p:sldId id="405" r:id="rId14"/>
    <p:sldId id="285" r:id="rId15"/>
    <p:sldId id="413" r:id="rId16"/>
    <p:sldId id="416" r:id="rId17"/>
    <p:sldId id="288" r:id="rId18"/>
    <p:sldId id="289" r:id="rId19"/>
    <p:sldId id="290" r:id="rId20"/>
    <p:sldId id="291" r:id="rId21"/>
    <p:sldId id="266" r:id="rId22"/>
    <p:sldId id="267" r:id="rId23"/>
    <p:sldId id="268" r:id="rId24"/>
    <p:sldId id="269" r:id="rId25"/>
    <p:sldId id="270" r:id="rId26"/>
    <p:sldId id="272" r:id="rId27"/>
    <p:sldId id="274" r:id="rId28"/>
    <p:sldId id="292" r:id="rId29"/>
    <p:sldId id="275" r:id="rId30"/>
    <p:sldId id="276" r:id="rId31"/>
    <p:sldId id="277" r:id="rId32"/>
    <p:sldId id="278" r:id="rId33"/>
    <p:sldId id="280" r:id="rId34"/>
    <p:sldId id="294" r:id="rId35"/>
    <p:sldId id="295" r:id="rId36"/>
    <p:sldId id="296" r:id="rId37"/>
    <p:sldId id="297" r:id="rId38"/>
    <p:sldId id="298" r:id="rId39"/>
    <p:sldId id="302" r:id="rId40"/>
    <p:sldId id="299" r:id="rId41"/>
    <p:sldId id="300" r:id="rId42"/>
    <p:sldId id="293" r:id="rId43"/>
    <p:sldId id="301" r:id="rId44"/>
    <p:sldId id="304" r:id="rId45"/>
    <p:sldId id="308" r:id="rId46"/>
    <p:sldId id="313" r:id="rId47"/>
    <p:sldId id="330" r:id="rId48"/>
    <p:sldId id="331" r:id="rId49"/>
    <p:sldId id="332" r:id="rId50"/>
    <p:sldId id="334" r:id="rId51"/>
    <p:sldId id="335" r:id="rId52"/>
    <p:sldId id="402" r:id="rId53"/>
    <p:sldId id="403" r:id="rId54"/>
    <p:sldId id="365" r:id="rId55"/>
    <p:sldId id="366" r:id="rId56"/>
    <p:sldId id="404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B1C8E-8CD8-44AC-B177-61D4FBF623FD}" type="datetimeFigureOut">
              <a:rPr lang="en-KE" smtClean="0"/>
              <a:t>05/13/2025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6FDE8-61F6-4A56-A4F1-2585044BDEF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07208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72D2A99-A7B6-5CB0-F757-6708739AAC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2010D6-0DA7-4424-80BB-96D09FE6C7BF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48997638-B26F-DAE2-7267-7DF2F16DC8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95DFA354-4552-C4AF-BA5B-CBD391301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5A6F394-703E-2832-D141-6CB5A58F5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D83538-4E16-4FFB-868F-ADA5CDA6BF3D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91842" name="Rectangle 2">
            <a:extLst>
              <a:ext uri="{FF2B5EF4-FFF2-40B4-BE49-F238E27FC236}">
                <a16:creationId xmlns:a16="http://schemas.microsoft.com/office/drawing/2014/main" id="{17D5CC38-C560-CE98-00C5-5BE846EE0C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249E76B8-F6BA-6652-E9CA-78FA31DD3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3648120-48DF-C9A0-C0FA-445A4DF6E7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DD4329-B2B2-4279-9807-F70F684D039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93890" name="Rectangle 2">
            <a:extLst>
              <a:ext uri="{FF2B5EF4-FFF2-40B4-BE49-F238E27FC236}">
                <a16:creationId xmlns:a16="http://schemas.microsoft.com/office/drawing/2014/main" id="{5FFC491D-402D-1302-6699-4D18BF4D2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E1349C33-3451-7FAE-3BE6-B670CF7A9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EA836B5-7D2B-CE52-75A5-F749F15DA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62F9A6-672D-4544-965F-F7B6D5B98D89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297986" name="Rectangle 2">
            <a:extLst>
              <a:ext uri="{FF2B5EF4-FFF2-40B4-BE49-F238E27FC236}">
                <a16:creationId xmlns:a16="http://schemas.microsoft.com/office/drawing/2014/main" id="{AC9B9D31-F123-B37A-9644-C1312CD9B4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46B58524-521A-4A7F-6582-56182E3ED5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0430D3-90ED-D315-0189-5F035A6A43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4DC77F-88D6-41C4-89D7-9E797682B27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00034" name="Rectangle 2">
            <a:extLst>
              <a:ext uri="{FF2B5EF4-FFF2-40B4-BE49-F238E27FC236}">
                <a16:creationId xmlns:a16="http://schemas.microsoft.com/office/drawing/2014/main" id="{BE684623-20EC-7805-D156-569A1D2F7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2F327CFC-4599-CDE6-8652-18C7766D6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67F005B-F52C-CF69-024A-03B171A5D4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6E6C8C-3958-4AB5-95FE-EF65D2834EF6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302082" name="Rectangle 2">
            <a:extLst>
              <a:ext uri="{FF2B5EF4-FFF2-40B4-BE49-F238E27FC236}">
                <a16:creationId xmlns:a16="http://schemas.microsoft.com/office/drawing/2014/main" id="{4C7096BD-24C0-93EA-D9A6-E15E40B648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099530FC-C499-C073-34C1-0FA7592F3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6A50D82-C78F-ECF6-EFAC-BDE45119F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400442-7E06-4F40-8E92-FBA6B32A48AF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06178" name="Rectangle 2">
            <a:extLst>
              <a:ext uri="{FF2B5EF4-FFF2-40B4-BE49-F238E27FC236}">
                <a16:creationId xmlns:a16="http://schemas.microsoft.com/office/drawing/2014/main" id="{4B9DF288-FF6F-F958-654D-36597A8E2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B81CBEF6-B593-79E4-4903-7B2E3D8708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B674429-CAB3-A47C-B72F-D063B4BC4E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44C586-9BDD-49F7-AA7D-0F2C2E36FDDD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89D5D867-C712-CB11-2822-FA5C42D8BC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1FDAB40F-84CD-581C-7543-D556135F3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B674429-CAB3-A47C-B72F-D063B4BC4E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44C586-9BDD-49F7-AA7D-0F2C2E36FDD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89D5D867-C712-CB11-2822-FA5C42D8BC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1FDAB40F-84CD-581C-7543-D556135F3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9950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6A2195E-DA41-38B3-89EC-153E28A48C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281ACA-0700-44D5-858E-881144FD9BE3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12322" name="Rectangle 2">
            <a:extLst>
              <a:ext uri="{FF2B5EF4-FFF2-40B4-BE49-F238E27FC236}">
                <a16:creationId xmlns:a16="http://schemas.microsoft.com/office/drawing/2014/main" id="{B7412647-0F19-5BEF-BC82-154E9A6794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BAADCB2A-829B-7658-4E8A-9CEB93073A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978818E-90B6-7404-111D-40CED14F59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0354E9-AEC8-422E-A8F4-41C2E7A87B11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314370" name="Rectangle 2">
            <a:extLst>
              <a:ext uri="{FF2B5EF4-FFF2-40B4-BE49-F238E27FC236}">
                <a16:creationId xmlns:a16="http://schemas.microsoft.com/office/drawing/2014/main" id="{8F5AE255-8086-CD4E-F9D9-50C25914BE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581F32C5-EEA0-7FB8-9F45-52699C206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F70D0B9-8CDD-3D2E-6448-75733C78D4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0D18BC-C4FD-4FD7-A32F-9E2DED9C8C4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316418" name="Rectangle 2">
            <a:extLst>
              <a:ext uri="{FF2B5EF4-FFF2-40B4-BE49-F238E27FC236}">
                <a16:creationId xmlns:a16="http://schemas.microsoft.com/office/drawing/2014/main" id="{DEA5B07A-9FED-F9CB-78AC-855A5DD948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36501A4B-DC9A-C2DF-F076-282813114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1031F7-B867-A220-F19C-A2F2A37313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90842C-F64B-43D2-B3DD-294078401E95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93694038-442A-E025-3D98-36E4935B1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B29BF0BB-3788-A7C8-71BC-13ABB1E7A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4FA4696-4F49-73E4-7253-BEA630ED7C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B82044-05BD-4681-900F-B29297F539FD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C07110EA-58A4-70ED-F428-D5A3D610E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60DB6B63-8A17-4D26-1DE8-A89B37060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42A8E8F-22EC-3C04-9064-6123D9A28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36C2B2-472D-4E98-ABE1-EA9B23EA925E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69CD3A75-BDA0-4D05-7AE5-2061E453C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9325F962-41B2-33A6-4713-B7D8E6C89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892FB6D-B882-0624-B812-0B37D4AE56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53B004-5816-4CA9-8E61-F41CDFB64527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91FDC692-A69B-0246-C03B-C509166777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2F15C133-5ABE-D912-D94F-E12EF9623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612D30F-4E5E-2E2E-B6D8-34AAE69239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5DD490-6D0B-4757-92EC-C46DCBF4657E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00B0A2CE-916B-B1DC-C894-01AD09C8F4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5D97CC85-7AF2-DBA4-F64B-973DC69ED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9C7880C-8E06-48DC-1060-FB8A44BC32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72742F-0205-458B-9AD8-3441E0AF21FC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0DDEBBB8-21B4-C27C-70CC-59825DD5E4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4F070B03-C07B-1884-1787-74D4E60CB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74DD524-55F9-3863-E14A-9FB3E0FF1B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7038F8-4E65-495C-9CBF-B1BEC4954B2A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340994" name="Rectangle 2">
            <a:extLst>
              <a:ext uri="{FF2B5EF4-FFF2-40B4-BE49-F238E27FC236}">
                <a16:creationId xmlns:a16="http://schemas.microsoft.com/office/drawing/2014/main" id="{3BE94656-FAFC-4A1D-6002-C6FF9416D8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EC86DF4E-011B-5769-079F-12C034B19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A660297-8B74-A863-F499-E33139967B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345AC1-1BE1-4105-B775-9F92D4CD6021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B259AF84-FC58-A657-AF9C-8D6A0C2574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B29566C1-ACE9-F997-5FE7-8FC6483C5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74E6AA5-7A5F-EDB5-C178-815B07C769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90C7F3-175A-42A5-8206-B3AF035304F0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0F5B4206-397F-2DDB-FFB6-3D12182F66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C494CE3F-0F59-1166-E52F-BE4750731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P2_WHITE_BACKGROUND_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61EB53-006F-482C-AFEC-67B302486C2E}"/>
              </a:ext>
            </a:extLst>
          </p:cNvPr>
          <p:cNvSpPr/>
          <p:nvPr userDrawn="1"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 w="26425" cap="flat" cmpd="sng" algn="ctr">
            <a:noFill/>
            <a:prstDash val="solid"/>
          </a:ln>
          <a:effectLst>
            <a:outerShdw blurRad="279400" dist="38100" dir="5400000" rotWithShape="0">
              <a:srgbClr val="FFFFFF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2642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4FDB17EA-590A-4D90-870E-5CC1EAE7F1CE}"/>
              </a:ext>
            </a:extLst>
          </p:cNvPr>
          <p:cNvSpPr>
            <a:spLocks noGrp="1" noChangeAspect="1"/>
          </p:cNvSpPr>
          <p:nvPr>
            <p:ph type="pic" idx="10"/>
          </p:nvPr>
        </p:nvSpPr>
        <p:spPr>
          <a:xfrm>
            <a:off x="457200" y="331241"/>
            <a:ext cx="479580" cy="4795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1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CP2_WHITE_BACKGROUND_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61EB53-006F-482C-AFEC-67B302486C2E}"/>
              </a:ext>
            </a:extLst>
          </p:cNvPr>
          <p:cNvSpPr/>
          <p:nvPr userDrawn="1"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 w="26425" cap="flat" cmpd="sng" algn="ctr">
            <a:noFill/>
            <a:prstDash val="solid"/>
          </a:ln>
          <a:effectLst>
            <a:outerShdw blurRad="279400" dist="38100" dir="5400000" rotWithShape="0">
              <a:srgbClr val="FFFFFF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2642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4FDB17EA-590A-4D90-870E-5CC1EAE7F1CE}"/>
              </a:ext>
            </a:extLst>
          </p:cNvPr>
          <p:cNvSpPr>
            <a:spLocks noGrp="1" noChangeAspect="1"/>
          </p:cNvSpPr>
          <p:nvPr>
            <p:ph type="pic" idx="10"/>
          </p:nvPr>
        </p:nvSpPr>
        <p:spPr>
          <a:xfrm>
            <a:off x="457200" y="331241"/>
            <a:ext cx="479580" cy="4795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6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P2_WHITE_BACKGROUND_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61EB53-006F-482C-AFEC-67B302486C2E}"/>
              </a:ext>
            </a:extLst>
          </p:cNvPr>
          <p:cNvSpPr/>
          <p:nvPr userDrawn="1"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FFFFFF"/>
          </a:solidFill>
          <a:ln w="26425" cap="flat" cmpd="sng" algn="ctr">
            <a:noFill/>
            <a:prstDash val="solid"/>
          </a:ln>
          <a:effectLst>
            <a:outerShdw blurRad="279400" dist="38100" dir="5400000" rotWithShape="0">
              <a:srgbClr val="FFFFFF">
                <a:alpha val="15000"/>
              </a:srgbClr>
            </a:outerShdw>
          </a:effectLst>
          <a:extLst>
            <a:ext uri="{91240B29-F687-4F45-9708-019B960494DF}">
              <a14:hiddenLine xmlns:a14="http://schemas.microsoft.com/office/drawing/2010/main" w="2642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4FDB17EA-590A-4D90-870E-5CC1EAE7F1CE}"/>
              </a:ext>
            </a:extLst>
          </p:cNvPr>
          <p:cNvSpPr>
            <a:spLocks noGrp="1" noChangeAspect="1"/>
          </p:cNvSpPr>
          <p:nvPr>
            <p:ph type="pic" idx="10"/>
          </p:nvPr>
        </p:nvSpPr>
        <p:spPr>
          <a:xfrm>
            <a:off x="457200" y="331241"/>
            <a:ext cx="479580" cy="47958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6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fr-CH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H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fr-CH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H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CH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H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H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Cliquez et modifiez le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fr-CH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H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CH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H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H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Cliquez et modifiez le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fr-CH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Tuesday, May 13,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7EB9-C109-F2C2-09BF-771E4F4FE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633413"/>
            <a:ext cx="7870825" cy="63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D398E-EE7F-8355-1492-1661563FD99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33413" y="1649413"/>
            <a:ext cx="3859212" cy="3554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54BA7-EBEE-1C92-0960-6073FAEC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025" y="1649413"/>
            <a:ext cx="3859213" cy="3554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4764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H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H"/>
              <a:t>Cliquez pour modifier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Tuesday, May 13,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5" r:id="rId2"/>
    <p:sldLayoutId id="2147483974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file:///C:\Program%20Files\Inknoe%20ClassPoint%202\Images\sa_green.pn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tk.org/" TargetMode="External"/><Relationship Id="rId2" Type="http://schemas.openxmlformats.org/officeDocument/2006/relationships/hyperlink" Target="https://www.jflap.org/jflaptmp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user.phil-fak.uni-duesseldorf.de/~zinova/teaching/CompMorphBlockWiSe2016/xfst.pdf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file:///C:\Program%20Files\Inknoe%20ClassPoint%202\Images\mc_green.pn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file:///C:\Users\Kituku\AppData\Roaming\Inknoe%20ClassPoint\Images\slide-20250513134218829.jpg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file:///C:\Program%20Files\Inknoe%20ClassPoint%202\Images\mc_green.p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file:///C:\Users\Kituku\AppData\Roaming\Inknoe%20ClassPoint\Images\slide-20250513135357295.jpg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g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en.wikipedia.org/wiki/Ordered_pair" TargetMode="External"/><Relationship Id="rId4" Type="http://schemas.openxmlformats.org/officeDocument/2006/relationships/hyperlink" Target="https://en.wikipedia.org/wiki/Singleton_(mathematics)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848600" cy="1698626"/>
          </a:xfrm>
        </p:spPr>
        <p:txBody>
          <a:bodyPr/>
          <a:lstStyle/>
          <a:p>
            <a:r>
              <a:rPr lang="fr-FR" dirty="0"/>
              <a:t>LECTURE one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THEORY OF COMPUTING  ccs 3113</a:t>
            </a:r>
          </a:p>
        </p:txBody>
      </p:sp>
      <p:pic>
        <p:nvPicPr>
          <p:cNvPr id="9" name="btnInknoeActivityCp2">
            <a:extLst>
              <a:ext uri="{FF2B5EF4-FFF2-40B4-BE49-F238E27FC236}">
                <a16:creationId xmlns:a16="http://schemas.microsoft.com/office/drawing/2014/main" id="{4768F2AF-40C1-482E-9E8F-D1D2E82ACF7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r:link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732" y="5768600"/>
            <a:ext cx="1666536" cy="43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572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EF2D000-EEA1-46C0-9A97-F8ACC623C418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2808" y="331241"/>
            <a:ext cx="479580" cy="479580"/>
          </a:xfrm>
        </p:spPr>
      </p:pic>
      <p:sp>
        <p:nvSpPr>
          <p:cNvPr id="5" name="Header top shape">
            <a:extLst>
              <a:ext uri="{FF2B5EF4-FFF2-40B4-BE49-F238E27FC236}">
                <a16:creationId xmlns:a16="http://schemas.microsoft.com/office/drawing/2014/main" id="{7CFD78C0-FE49-495D-9799-AA2728EF4B09}"/>
              </a:ext>
            </a:extLst>
          </p:cNvPr>
          <p:cNvSpPr txBox="1"/>
          <p:nvPr/>
        </p:nvSpPr>
        <p:spPr>
          <a:xfrm>
            <a:off x="2992388" y="370976"/>
            <a:ext cx="6096000" cy="400110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 sz="2000">
                <a:solidFill>
                  <a:srgbClr val="49454F"/>
                </a:solidFill>
                <a:latin typeface="Roboto"/>
              </a:rPr>
              <a:t>Short Answer submissions (1/3)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AF5874-16ED-42AD-81F0-82BA0C0C3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840415"/>
              </p:ext>
            </p:extLst>
          </p:nvPr>
        </p:nvGraphicFramePr>
        <p:xfrm>
          <a:off x="457200" y="1028700"/>
          <a:ext cx="8229600" cy="51937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72838225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627299677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Roboto"/>
                        </a:rPr>
                        <a:t>Name</a:t>
                      </a:r>
                    </a:p>
                  </a:txBody>
                  <a:tcPr anchor="b">
                    <a:lnB w="28575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Roboto"/>
                        </a:rPr>
                        <a:t>Response</a:t>
                      </a:r>
                    </a:p>
                  </a:txBody>
                  <a:tcPr anchor="b">
                    <a:lnB w="28575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19928542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C026-01-0787/2023</a:t>
                      </a:r>
                    </a:p>
                  </a:txBody>
                  <a:tcPr anchor="ctr">
                    <a:lnT w="28575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learn</a:t>
                      </a:r>
                    </a:p>
                  </a:txBody>
                  <a:tcPr anchor="ctr">
                    <a:lnT w="28575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859861869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C026-01-0786/2023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learn about theory of computation 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575175537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Lenson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Learn a new unit on theory of computing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21187425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C026-01-0772/2023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gain insight on the course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77455175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Elisha 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get the introduction and Objectives of the unit 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774327588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C026-01-0733/2023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learn about theory of computing 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78311488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C026-01-0765/2023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get an insight on what the unit is about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22718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5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8832C1F5-0C15-45EC-922C-E2CF20C29DB3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2808" y="331241"/>
            <a:ext cx="479580" cy="479580"/>
          </a:xfrm>
        </p:spPr>
      </p:pic>
      <p:sp>
        <p:nvSpPr>
          <p:cNvPr id="5" name="Header top shape">
            <a:extLst>
              <a:ext uri="{FF2B5EF4-FFF2-40B4-BE49-F238E27FC236}">
                <a16:creationId xmlns:a16="http://schemas.microsoft.com/office/drawing/2014/main" id="{BF6B3B34-427C-48A0-9299-8F6B6AF93377}"/>
              </a:ext>
            </a:extLst>
          </p:cNvPr>
          <p:cNvSpPr txBox="1"/>
          <p:nvPr/>
        </p:nvSpPr>
        <p:spPr>
          <a:xfrm>
            <a:off x="2992388" y="370976"/>
            <a:ext cx="6096000" cy="400110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 sz="2000">
                <a:solidFill>
                  <a:srgbClr val="49454F"/>
                </a:solidFill>
                <a:latin typeface="Roboto"/>
              </a:rPr>
              <a:t>Short Answer submissions (2/3)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CB32F3-6699-4CB5-A326-3D413B1FD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82125"/>
              </p:ext>
            </p:extLst>
          </p:nvPr>
        </p:nvGraphicFramePr>
        <p:xfrm>
          <a:off x="457200" y="1028700"/>
          <a:ext cx="8229600" cy="51937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4181240512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15860825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Roboto"/>
                        </a:rPr>
                        <a:t>Name</a:t>
                      </a:r>
                    </a:p>
                  </a:txBody>
                  <a:tcPr anchor="b">
                    <a:lnB w="28575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Roboto"/>
                        </a:rPr>
                        <a:t>Response</a:t>
                      </a:r>
                    </a:p>
                  </a:txBody>
                  <a:tcPr anchor="b">
                    <a:lnB w="28575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31510309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C026-01-0774/2023</a:t>
                      </a:r>
                    </a:p>
                  </a:txBody>
                  <a:tcPr anchor="ctr">
                    <a:lnT w="28575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get skills and insight and what unit is about </a:t>
                      </a:r>
                    </a:p>
                  </a:txBody>
                  <a:tcPr anchor="ctr">
                    <a:lnT w="28575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382604665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C026-01-0713/2023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Curious about Theory of Computation 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45158702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CO26-01-2114/2023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gain basics of Theory of Computing.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81540955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c026-01-0736/2023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learn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15047438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C026-01-0936/2022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learn more about the theory of computing and it's field 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26216461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C026-01-0714/2023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My objective is to learn more on the more theoretical part of computing and all related concepts.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86099600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C026-01-1533/2023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I like to pass and gain skills which I can apply </a:t>
                      </a:r>
                    </a:p>
                  </a:txBody>
                  <a:tcPr anchor="ctr">
                    <a:lnT w="6350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600693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36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EA705205-CC64-4BE2-B10B-EFE4B15568CC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2808" y="331241"/>
            <a:ext cx="479580" cy="479580"/>
          </a:xfrm>
        </p:spPr>
      </p:pic>
      <p:sp>
        <p:nvSpPr>
          <p:cNvPr id="5" name="Header top shape">
            <a:extLst>
              <a:ext uri="{FF2B5EF4-FFF2-40B4-BE49-F238E27FC236}">
                <a16:creationId xmlns:a16="http://schemas.microsoft.com/office/drawing/2014/main" id="{7E54C9D5-0D65-4C6A-A758-84CB5D9998D8}"/>
              </a:ext>
            </a:extLst>
          </p:cNvPr>
          <p:cNvSpPr txBox="1"/>
          <p:nvPr/>
        </p:nvSpPr>
        <p:spPr>
          <a:xfrm>
            <a:off x="2992388" y="370976"/>
            <a:ext cx="6096000" cy="400110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 sz="2000">
                <a:solidFill>
                  <a:srgbClr val="49454F"/>
                </a:solidFill>
                <a:latin typeface="Roboto"/>
              </a:rPr>
              <a:t>Short Answer submissions (3/3)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FABC81-F3DD-46A4-8098-4B53DAC51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785490"/>
              </p:ext>
            </p:extLst>
          </p:nvPr>
        </p:nvGraphicFramePr>
        <p:xfrm>
          <a:off x="457200" y="1028700"/>
          <a:ext cx="8229600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4072587932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3084198676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Roboto"/>
                        </a:rPr>
                        <a:t>Name</a:t>
                      </a:r>
                    </a:p>
                  </a:txBody>
                  <a:tcPr anchor="b">
                    <a:lnB w="28575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00000"/>
                          </a:solidFill>
                          <a:latin typeface="Roboto"/>
                        </a:rPr>
                        <a:t>Response</a:t>
                      </a:r>
                    </a:p>
                  </a:txBody>
                  <a:tcPr anchor="b">
                    <a:lnB w="28575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45207212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C026-01-0732/2023</a:t>
                      </a:r>
                    </a:p>
                  </a:txBody>
                  <a:tcPr anchor="ctr">
                    <a:lnT w="28575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Roboto"/>
                        </a:rPr>
                        <a:t>To know what the unit entails</a:t>
                      </a:r>
                    </a:p>
                  </a:txBody>
                  <a:tcPr anchor="ctr">
                    <a:lnT w="28575">
                      <a:solidFill>
                        <a:srgbClr val="D0CECE"/>
                      </a:solidFill>
                    </a:lnT>
                    <a:lnB w="6350">
                      <a:solidFill>
                        <a:srgbClr val="D0CECE"/>
                      </a:solidFill>
                    </a:lnB>
                    <a:pattFill>
                      <a:fgClr>
                        <a:srgbClr val="F3F4FF"/>
                      </a:fgClr>
                      <a:bgClr>
                        <a:srgbClr val="F3F4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879132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33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FBF6-F666-9D02-69DB-9FDA4A52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1D7BE-785F-F5C2-A75A-7D234480E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 of the course</a:t>
            </a:r>
          </a:p>
          <a:p>
            <a:pPr lvl="1"/>
            <a:r>
              <a:rPr lang="en-US" dirty="0"/>
              <a:t>To enable the learners to apply the concepts, theories and models in the theory of computation.</a:t>
            </a:r>
          </a:p>
          <a:p>
            <a:r>
              <a:rPr lang="en-US" dirty="0"/>
              <a:t>Expected Learning Outcomes of the Course </a:t>
            </a:r>
          </a:p>
          <a:p>
            <a:r>
              <a:rPr lang="en-US" dirty="0"/>
              <a:t>By the end of the course, the learner should be able to:</a:t>
            </a:r>
          </a:p>
          <a:p>
            <a:pPr lvl="1"/>
            <a:r>
              <a:rPr lang="en-US" dirty="0"/>
              <a:t>Explain the concepts and principles of computability and complexity theories.</a:t>
            </a:r>
          </a:p>
          <a:p>
            <a:pPr lvl="1"/>
            <a:r>
              <a:rPr lang="en-US" dirty="0"/>
              <a:t>Apply the relevance of theory of computation in solving problems.</a:t>
            </a:r>
          </a:p>
          <a:p>
            <a:pPr lvl="1"/>
            <a:r>
              <a:rPr lang="en-US" dirty="0"/>
              <a:t> Design a simple Turing Machine.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6904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387E-F3AB-018A-50A3-B65D783F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8D706-8D96-6E60-0903-3A6B01F83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 Mathematical preliminaries</a:t>
            </a:r>
          </a:p>
          <a:p>
            <a:r>
              <a:rPr lang="en-US" dirty="0"/>
              <a:t>Automata theory</a:t>
            </a:r>
          </a:p>
          <a:p>
            <a:pPr lvl="1"/>
            <a:r>
              <a:rPr lang="en-US" dirty="0"/>
              <a:t>Regular languages, Deterministic and non-deterministic machines, </a:t>
            </a:r>
          </a:p>
          <a:p>
            <a:pPr lvl="1"/>
            <a:r>
              <a:rPr lang="en-US" dirty="0"/>
              <a:t>Context-Free Grammars, Parse Trees; Ambiguity in Grammars and Languages, </a:t>
            </a:r>
          </a:p>
          <a:p>
            <a:pPr lvl="1"/>
            <a:r>
              <a:rPr lang="en-US" dirty="0"/>
              <a:t>Standard Forms, Chomsky Normal Forms, Computability theory; </a:t>
            </a:r>
          </a:p>
          <a:p>
            <a:pPr lvl="1"/>
            <a:r>
              <a:rPr lang="en-US" dirty="0"/>
              <a:t>Turing machines, Programming Techniques for Turing Machines, Formal definition of TM’s, TM’s as </a:t>
            </a:r>
            <a:r>
              <a:rPr lang="en-US" dirty="0" err="1"/>
              <a:t>acceptors,TM’s</a:t>
            </a:r>
            <a:r>
              <a:rPr lang="en-US" dirty="0"/>
              <a:t> as transducers, Recognizing Languages with TM’s, Sorting with TM’s, Programming in TM’s, </a:t>
            </a:r>
          </a:p>
          <a:p>
            <a:r>
              <a:rPr lang="en-US" dirty="0"/>
              <a:t>Computation theory</a:t>
            </a:r>
          </a:p>
          <a:p>
            <a:pPr lvl="1"/>
            <a:r>
              <a:rPr lang="en-US" dirty="0"/>
              <a:t>Church-Turing thesis, decidability, halting problem, reducibility, recursion theorem,</a:t>
            </a:r>
          </a:p>
          <a:p>
            <a:r>
              <a:rPr lang="en-US" dirty="0"/>
              <a:t>Complexity Theory; </a:t>
            </a:r>
          </a:p>
          <a:p>
            <a:pPr lvl="1"/>
            <a:r>
              <a:rPr lang="en-US" dirty="0"/>
              <a:t>Time and space measures, hierarchy theorems, complexity classes P, NP, L, NL, PSPACE, BPP and IP, complete problems, P versus NP conjecture, </a:t>
            </a:r>
            <a:r>
              <a:rPr lang="en-US" dirty="0" err="1"/>
              <a:t>quantiers</a:t>
            </a:r>
            <a:r>
              <a:rPr lang="en-US" dirty="0"/>
              <a:t> and games,</a:t>
            </a:r>
          </a:p>
          <a:p>
            <a:pPr lvl="1"/>
            <a:r>
              <a:rPr lang="en-US" dirty="0"/>
              <a:t>provably hard problems, relativized computation and oracles, probabilistic computation,</a:t>
            </a:r>
          </a:p>
          <a:p>
            <a:pPr lvl="1"/>
            <a:r>
              <a:rPr lang="en-US" dirty="0"/>
              <a:t>interactive proof systems.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57344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CD1C-D962-E233-6973-729BCA1C2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FE76-CF64-F75B-FC7D-AB8BD9151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all automata theory practical's we shall use JFLAP</a:t>
            </a:r>
          </a:p>
          <a:p>
            <a:r>
              <a:rPr lang="en-US" dirty="0"/>
              <a:t>Available at </a:t>
            </a:r>
            <a:r>
              <a:rPr lang="en-US" dirty="0">
                <a:hlinkClick r:id="rId2"/>
              </a:rPr>
              <a:t>https://www.jflap.org/jflaptmp/</a:t>
            </a:r>
            <a:endParaRPr lang="en-US" dirty="0"/>
          </a:p>
          <a:p>
            <a:r>
              <a:rPr lang="en-US" dirty="0"/>
              <a:t>For grammar we shall use NLTK: The Natural Language Toolkit</a:t>
            </a:r>
          </a:p>
          <a:p>
            <a:r>
              <a:rPr lang="en-US" dirty="0"/>
              <a:t>Available at </a:t>
            </a:r>
            <a:r>
              <a:rPr lang="en-US" dirty="0">
                <a:hlinkClick r:id="rId3"/>
              </a:rPr>
              <a:t>https://www.nltk.org/</a:t>
            </a:r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Model the same in </a:t>
            </a:r>
            <a:r>
              <a:rPr lang="en-US" dirty="0" err="1"/>
              <a:t>Xeror</a:t>
            </a:r>
            <a:r>
              <a:rPr lang="en-US" dirty="0"/>
              <a:t> finite state tool</a:t>
            </a:r>
          </a:p>
          <a:p>
            <a:pPr lvl="1"/>
            <a:r>
              <a:rPr lang="en-US" dirty="0"/>
              <a:t>How to use it </a:t>
            </a:r>
            <a:r>
              <a:rPr lang="en-US" dirty="0">
                <a:hlinkClick r:id="rId4"/>
              </a:rPr>
              <a:t>https://user.phil-fak.uni-duesseldorf.de/~zinova/teaching/CompMorphBlockWiSe2016/xfst.pdf</a:t>
            </a:r>
            <a:endParaRPr lang="en-US" dirty="0"/>
          </a:p>
          <a:p>
            <a:pPr lvl="1"/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865003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0590-38EA-E7A5-95EE-2D431643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A8A1-3F31-22C9-21E0-BFB399872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Theory of computing tries to answer</a:t>
            </a:r>
          </a:p>
          <a:p>
            <a:pPr lvl="1"/>
            <a:r>
              <a:rPr lang="en-US" sz="1400" b="0" i="0" dirty="0">
                <a:solidFill>
                  <a:srgbClr val="000000"/>
                </a:solidFill>
                <a:effectLst/>
                <a:latin typeface="CMSY1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What are the mathematical properties of computer hardware and software?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What is a </a:t>
            </a:r>
            <a:r>
              <a:rPr lang="en-US" b="0" i="0" dirty="0">
                <a:solidFill>
                  <a:srgbClr val="000000"/>
                </a:solidFill>
                <a:effectLst/>
                <a:latin typeface="CMTI12"/>
              </a:rPr>
              <a:t>computation </a:t>
            </a:r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and what is an </a:t>
            </a:r>
            <a:r>
              <a:rPr lang="en-US" b="0" i="0" dirty="0">
                <a:solidFill>
                  <a:srgbClr val="000000"/>
                </a:solidFill>
                <a:effectLst/>
                <a:latin typeface="CMTI12"/>
              </a:rPr>
              <a:t>algorithm</a:t>
            </a:r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? </a:t>
            </a:r>
          </a:p>
          <a:p>
            <a:pPr lvl="2"/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Can we give rigorous mathematical definitions of these notions?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What are the </a:t>
            </a:r>
            <a:r>
              <a:rPr lang="en-US" b="0" i="0" dirty="0">
                <a:solidFill>
                  <a:srgbClr val="000000"/>
                </a:solidFill>
                <a:effectLst/>
                <a:latin typeface="CMTI12"/>
              </a:rPr>
              <a:t>limitations </a:t>
            </a:r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of computers? Can “everything” be computed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MR12"/>
              </a:rPr>
              <a:t>? </a:t>
            </a:r>
          </a:p>
          <a:p>
            <a:pPr marL="0" indent="0"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</a:br>
            <a:r>
              <a:rPr lang="en-US" sz="1800" b="0" i="0" dirty="0">
                <a:solidFill>
                  <a:srgbClr val="FF0000"/>
                </a:solidFill>
                <a:effectLst/>
                <a:latin typeface="CMBX12"/>
              </a:rPr>
              <a:t>Purpose of the Theory of Computation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BX12"/>
              </a:rPr>
              <a:t>: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CMBX12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Develop formal mathematical models of computation that reflect real-world computer</a:t>
            </a:r>
            <a:r>
              <a:rPr lang="en-US" dirty="0"/>
              <a:t> </a:t>
            </a:r>
          </a:p>
          <a:p>
            <a:r>
              <a:rPr lang="en-US" dirty="0"/>
              <a:t>What are the fundamental capabilities and limitation of computers</a:t>
            </a:r>
            <a:br>
              <a:rPr lang="en-US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575454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FB5EC60F-AD32-4926-8F46-D047541598B7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177" r="38177"/>
          <a:stretch>
            <a:fillRect/>
          </a:stretch>
        </p:blipFill>
        <p:spPr>
          <a:xfrm>
            <a:off x="457201" y="331241"/>
            <a:ext cx="0" cy="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2E6011-8DA3-4B39-B960-7A7239EA01BB}"/>
              </a:ext>
            </a:extLst>
          </p:cNvPr>
          <p:cNvSpPr txBox="1"/>
          <p:nvPr/>
        </p:nvSpPr>
        <p:spPr>
          <a:xfrm>
            <a:off x="623621" y="331241"/>
            <a:ext cx="7896758" cy="1115522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r>
              <a:rPr lang="en-US" sz="2700">
                <a:solidFill>
                  <a:srgbClr val="000000"/>
                </a:solidFill>
                <a:latin typeface="Calibri (Body)"/>
              </a:rPr>
              <a:t>Which of the following best describes the primary focus of the Theory of Computation?</a:t>
            </a:r>
          </a:p>
        </p:txBody>
      </p:sp>
      <p:cxnSp>
        <p:nvCxnSpPr>
          <p:cNvPr id="6" name="Straight Connector 5" hidden="1">
            <a:extLst>
              <a:ext uri="{FF2B5EF4-FFF2-40B4-BE49-F238E27FC236}">
                <a16:creationId xmlns:a16="http://schemas.microsoft.com/office/drawing/2014/main" id="{F4781074-EC7D-46F4-B4D0-602A0910C37D}"/>
              </a:ext>
            </a:extLst>
          </p:cNvPr>
          <p:cNvCxnSpPr/>
          <p:nvPr/>
        </p:nvCxnSpPr>
        <p:spPr>
          <a:xfrm>
            <a:off x="623621" y="1446763"/>
            <a:ext cx="7896758" cy="0"/>
          </a:xfrm>
          <a:prstGeom prst="line">
            <a:avLst/>
          </a:prstGeom>
          <a:ln>
            <a:solidFill>
              <a:srgbClr val="CFD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94ED4A-A349-4819-A0C0-E3C46757297B}"/>
              </a:ext>
            </a:extLst>
          </p:cNvPr>
          <p:cNvSpPr txBox="1"/>
          <p:nvPr/>
        </p:nvSpPr>
        <p:spPr>
          <a:xfrm>
            <a:off x="623621" y="1721083"/>
            <a:ext cx="7896758" cy="25374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55600" indent="-342900">
              <a:spcBef>
                <a:spcPts val="700"/>
              </a:spcBef>
              <a:spcAft>
                <a:spcPts val="700"/>
              </a:spcAft>
              <a:buAutoNum type="alphaUcPeriod"/>
            </a:pPr>
            <a:r>
              <a:rPr lang="en-US">
                <a:solidFill>
                  <a:srgbClr val="000000"/>
                </a:solidFill>
                <a:latin typeface="Calibri (Body)"/>
              </a:rPr>
              <a:t>To develop software applications that can perform tasks.
To analyze the graphical user interface of computers.
To understand the mathematical properties of computation.
To evaluate hardware designs for efficiency.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8BA5F04-0352-4C16-9CB1-863AD73C111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202" y="3951228"/>
            <a:ext cx="1506651" cy="480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200245-F88C-49DE-852B-94D9BAEEFA9E}"/>
              </a:ext>
            </a:extLst>
          </p:cNvPr>
          <p:cNvSpPr txBox="1"/>
          <p:nvPr/>
        </p:nvSpPr>
        <p:spPr>
          <a:xfrm>
            <a:off x="623621" y="4577363"/>
            <a:ext cx="7896758" cy="369332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>
                <a:solidFill>
                  <a:srgbClr val="159B48"/>
                </a:solidFill>
                <a:latin typeface="Calibri (Body)"/>
              </a:rPr>
              <a:t>Correct answer: C</a:t>
            </a:r>
          </a:p>
        </p:txBody>
      </p:sp>
      <p:pic>
        <p:nvPicPr>
          <p:cNvPr id="16" name="btnInknoeActivityCp2">
            <a:extLst>
              <a:ext uri="{FF2B5EF4-FFF2-40B4-BE49-F238E27FC236}">
                <a16:creationId xmlns:a16="http://schemas.microsoft.com/office/drawing/2014/main" id="{FA682D72-9026-4932-A0B2-FACE3DF3212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r:link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220" y="5768600"/>
            <a:ext cx="1666536" cy="4357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258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8087D68E-7DAC-4F00-81C8-7170557B5162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3910" y="331241"/>
            <a:ext cx="479580" cy="479580"/>
          </a:xfrm>
        </p:spPr>
      </p:pic>
      <p:sp>
        <p:nvSpPr>
          <p:cNvPr id="5" name="Header top shape">
            <a:extLst>
              <a:ext uri="{FF2B5EF4-FFF2-40B4-BE49-F238E27FC236}">
                <a16:creationId xmlns:a16="http://schemas.microsoft.com/office/drawing/2014/main" id="{EB06C396-C717-4DDA-B731-F621BEC8A279}"/>
              </a:ext>
            </a:extLst>
          </p:cNvPr>
          <p:cNvSpPr txBox="1"/>
          <p:nvPr/>
        </p:nvSpPr>
        <p:spPr>
          <a:xfrm>
            <a:off x="3173490" y="370976"/>
            <a:ext cx="6096000" cy="400110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 sz="2000">
                <a:solidFill>
                  <a:srgbClr val="49454F"/>
                </a:solidFill>
                <a:latin typeface="Roboto"/>
              </a:rPr>
              <a:t>Multiple Choice submissions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5478C2-A78E-4D7D-860D-236185C6DCAC}"/>
              </a:ext>
            </a:extLst>
          </p:cNvPr>
          <p:cNvPicPr>
            <a:picLocks noChangeAspect="1"/>
          </p:cNvPicPr>
          <p:nvPr/>
        </p:nvPicPr>
        <p:blipFill>
          <a:blip r:embed="rId3" r:link="rId4"/>
          <a:stretch>
            <a:fillRect/>
          </a:stretch>
        </p:blipFill>
        <p:spPr>
          <a:xfrm>
            <a:off x="457200" y="1028700"/>
            <a:ext cx="8229600" cy="394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37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0590-38EA-E7A5-95EE-2D431643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A8A1-3F31-22C9-21E0-BFB399872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Started with mathematician logicians</a:t>
            </a:r>
          </a:p>
          <a:p>
            <a:r>
              <a:rPr lang="en-US" dirty="0"/>
              <a:t>The theory of computing has three branches</a:t>
            </a:r>
          </a:p>
          <a:p>
            <a:pPr lvl="1"/>
            <a:r>
              <a:rPr lang="en-US" sz="2400" dirty="0"/>
              <a:t>Automata theory</a:t>
            </a:r>
          </a:p>
          <a:p>
            <a:pPr lvl="1"/>
            <a:r>
              <a:rPr lang="en-US" sz="2400" dirty="0"/>
              <a:t>Complexity theory</a:t>
            </a:r>
          </a:p>
          <a:p>
            <a:pPr lvl="1"/>
            <a:r>
              <a:rPr lang="en-US" sz="2400" dirty="0"/>
              <a:t>Computation theory</a:t>
            </a:r>
            <a:endParaRPr lang="en-KE" sz="2400" dirty="0"/>
          </a:p>
        </p:txBody>
      </p:sp>
    </p:spTree>
    <p:extLst>
      <p:ext uri="{BB962C8B-B14F-4D97-AF65-F5344CB8AC3E}">
        <p14:creationId xmlns:p14="http://schemas.microsoft.com/office/powerpoint/2010/main" val="3426766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0590-38EA-E7A5-95EE-2D431643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A8A1-3F31-22C9-21E0-BFB399872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Complexity theory</a:t>
            </a:r>
          </a:p>
          <a:p>
            <a:r>
              <a:rPr lang="en-US" dirty="0"/>
              <a:t>What makes some problems hard or easy</a:t>
            </a:r>
          </a:p>
          <a:p>
            <a:r>
              <a:rPr lang="en-US" dirty="0"/>
              <a:t>Easy – means efficiently solvable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MR12"/>
              </a:rPr>
              <a:t>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orting a sequence of, say, 1,000,000 numbers</a:t>
            </a:r>
          </a:p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searching for a name in a telephone director</a:t>
            </a:r>
          </a:p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 computing the fastest way to drive from </a:t>
            </a:r>
            <a:r>
              <a:rPr lang="en-US" sz="1800" dirty="0">
                <a:solidFill>
                  <a:srgbClr val="000000"/>
                </a:solidFill>
                <a:latin typeface="CMR12"/>
              </a:rPr>
              <a:t>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airobi to Nyeri </a:t>
            </a:r>
            <a:endParaRPr lang="en-US" dirty="0"/>
          </a:p>
          <a:p>
            <a:r>
              <a:rPr lang="en-US" dirty="0"/>
              <a:t>Hard – not efficiently solvable</a:t>
            </a:r>
          </a:p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time table scheduling for all courses at MMU</a:t>
            </a:r>
          </a:p>
          <a:p>
            <a:pPr marL="274320" lvl="2" indent="0">
              <a:spcBef>
                <a:spcPts val="0"/>
              </a:spcBef>
            </a:pPr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 factoring a 300-digit integer into its prime factors</a:t>
            </a:r>
          </a:p>
          <a:p>
            <a:pPr marL="274320" lvl="2" indent="0">
              <a:spcBef>
                <a:spcPts val="0"/>
              </a:spcBef>
            </a:pPr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computing a layout for chips in VLSI.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K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AE8292-B833-366B-B443-D36BB66940D0}"/>
              </a:ext>
            </a:extLst>
          </p:cNvPr>
          <p:cNvSpPr/>
          <p:nvPr/>
        </p:nvSpPr>
        <p:spPr>
          <a:xfrm>
            <a:off x="873369" y="5199186"/>
            <a:ext cx="7608277" cy="1137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dirty="0">
                <a:solidFill>
                  <a:srgbClr val="FF0000"/>
                </a:solidFill>
                <a:effectLst/>
                <a:latin typeface="CMBX12"/>
              </a:rPr>
              <a:t>Central Question in Complexity Theory:</a:t>
            </a:r>
          </a:p>
          <a:p>
            <a:pPr algn="ctr"/>
            <a:r>
              <a:rPr lang="en-US" sz="1800" b="0" i="0" dirty="0">
                <a:solidFill>
                  <a:srgbClr val="000000"/>
                </a:solidFill>
                <a:effectLst/>
                <a:latin typeface="CMBX12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Classify problems according to their degree of “difficulty”. </a:t>
            </a:r>
          </a:p>
          <a:p>
            <a:pPr algn="ctr"/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Give a rigorous proof that problems that seem to be “hard” are really “hard”.</a:t>
            </a:r>
            <a:r>
              <a:rPr lang="en-US" dirty="0"/>
              <a:t> </a:t>
            </a:r>
            <a:br>
              <a:rPr lang="en-US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2224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CD1E-EB4A-462B-96E2-61A7D6B1D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DEDAB-383E-493F-916A-D66E5FBDC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Confronting complex problems</a:t>
            </a:r>
          </a:p>
          <a:p>
            <a:pPr lvl="1"/>
            <a:r>
              <a:rPr lang="en-US" dirty="0"/>
              <a:t>Understanding the hard part of the problem for altering</a:t>
            </a:r>
          </a:p>
          <a:p>
            <a:pPr lvl="1"/>
            <a:r>
              <a:rPr lang="en-US" dirty="0"/>
              <a:t>Settle for less perfect solutions like approximations</a:t>
            </a:r>
          </a:p>
          <a:p>
            <a:pPr lvl="1"/>
            <a:r>
              <a:rPr lang="en-US" dirty="0"/>
              <a:t>Some problem are only hard in worst case scenarios</a:t>
            </a:r>
          </a:p>
          <a:p>
            <a:pPr lvl="1"/>
            <a:r>
              <a:rPr lang="en-US" dirty="0"/>
              <a:t>Consider alternative solution like randomized</a:t>
            </a:r>
          </a:p>
        </p:txBody>
      </p:sp>
    </p:spTree>
    <p:extLst>
      <p:ext uri="{BB962C8B-B14F-4D97-AF65-F5344CB8AC3E}">
        <p14:creationId xmlns:p14="http://schemas.microsoft.com/office/powerpoint/2010/main" val="742150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0590-38EA-E7A5-95EE-2D431643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A8A1-3F31-22C9-21E0-BFB399872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CMBX12"/>
              </a:rPr>
              <a:t>Computability theory</a:t>
            </a:r>
          </a:p>
          <a:p>
            <a:r>
              <a:rPr lang="en-US" dirty="0">
                <a:solidFill>
                  <a:srgbClr val="000000"/>
                </a:solidFill>
                <a:latin typeface="CMBX12"/>
              </a:rPr>
              <a:t> some fundamental problems that cannot be solved by a computer</a:t>
            </a:r>
            <a:r>
              <a:rPr lang="en-US" dirty="0"/>
              <a:t>  and other solvable</a:t>
            </a:r>
          </a:p>
          <a:p>
            <a:r>
              <a:rPr lang="en-US" dirty="0"/>
              <a:t>To solve a problem needs to formal notion of</a:t>
            </a:r>
          </a:p>
          <a:p>
            <a:pPr lvl="1"/>
            <a:r>
              <a:rPr lang="en-US" dirty="0"/>
              <a:t>Computer</a:t>
            </a:r>
          </a:p>
          <a:p>
            <a:pPr lvl="1"/>
            <a:r>
              <a:rPr lang="en-US" dirty="0"/>
              <a:t>Algorithm</a:t>
            </a:r>
          </a:p>
          <a:p>
            <a:pPr lvl="1"/>
            <a:r>
              <a:rPr lang="en-US" dirty="0"/>
              <a:t>Computation</a:t>
            </a:r>
          </a:p>
          <a:p>
            <a:br>
              <a:rPr lang="en-US" dirty="0"/>
            </a:br>
            <a:endParaRPr lang="en-K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91EBCA-046B-7348-1342-FB787E65CF6A}"/>
              </a:ext>
            </a:extLst>
          </p:cNvPr>
          <p:cNvSpPr/>
          <p:nvPr/>
        </p:nvSpPr>
        <p:spPr>
          <a:xfrm>
            <a:off x="873369" y="5199186"/>
            <a:ext cx="7608277" cy="1137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dirty="0">
                <a:solidFill>
                  <a:srgbClr val="FF0000"/>
                </a:solidFill>
                <a:effectLst/>
                <a:latin typeface="CMBX12"/>
              </a:rPr>
              <a:t>Central Question in Computability Theory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BX12"/>
              </a:rPr>
              <a:t>: </a:t>
            </a:r>
          </a:p>
          <a:p>
            <a:pPr algn="ctr"/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Classify problems as being solvable or unsolvable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2821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625FC14F-D8C5-474F-916F-D0C211F60931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177" r="38177"/>
          <a:stretch>
            <a:fillRect/>
          </a:stretch>
        </p:blipFill>
        <p:spPr>
          <a:xfrm>
            <a:off x="457201" y="331241"/>
            <a:ext cx="0" cy="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6886D-7648-4B5B-B3DC-60E7D632D403}"/>
              </a:ext>
            </a:extLst>
          </p:cNvPr>
          <p:cNvSpPr txBox="1"/>
          <p:nvPr/>
        </p:nvSpPr>
        <p:spPr>
          <a:xfrm>
            <a:off x="623621" y="331241"/>
            <a:ext cx="7896758" cy="1115522"/>
          </a:xfrm>
          <a:prstGeom prst="rect">
            <a:avLst/>
          </a:prstGeom>
          <a:noFill/>
        </p:spPr>
        <p:txBody>
          <a:bodyPr vert="horz" wrap="square" rtlCol="0" anchor="ctr">
            <a:normAutofit/>
          </a:bodyPr>
          <a:lstStyle/>
          <a:p>
            <a:r>
              <a:rPr lang="en-US" sz="2700">
                <a:solidFill>
                  <a:srgbClr val="000000"/>
                </a:solidFill>
                <a:latin typeface="Calibri (Body)"/>
              </a:rPr>
              <a:t>Which of the following is a fundamental aspect of computability theory?</a:t>
            </a:r>
          </a:p>
        </p:txBody>
      </p:sp>
      <p:cxnSp>
        <p:nvCxnSpPr>
          <p:cNvPr id="6" name="Straight Connector 5" hidden="1">
            <a:extLst>
              <a:ext uri="{FF2B5EF4-FFF2-40B4-BE49-F238E27FC236}">
                <a16:creationId xmlns:a16="http://schemas.microsoft.com/office/drawing/2014/main" id="{EE96618C-68B0-4DE2-AF3B-52C97AC02DD8}"/>
              </a:ext>
            </a:extLst>
          </p:cNvPr>
          <p:cNvCxnSpPr/>
          <p:nvPr/>
        </p:nvCxnSpPr>
        <p:spPr>
          <a:xfrm>
            <a:off x="623621" y="1446763"/>
            <a:ext cx="7896758" cy="0"/>
          </a:xfrm>
          <a:prstGeom prst="line">
            <a:avLst/>
          </a:prstGeom>
          <a:ln>
            <a:solidFill>
              <a:srgbClr val="CFD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B20E5D-DF24-4B4D-8156-7E8623081F8C}"/>
              </a:ext>
            </a:extLst>
          </p:cNvPr>
          <p:cNvSpPr txBox="1"/>
          <p:nvPr/>
        </p:nvSpPr>
        <p:spPr>
          <a:xfrm>
            <a:off x="623621" y="1721083"/>
            <a:ext cx="7896758" cy="25374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55600" indent="-342900">
              <a:spcBef>
                <a:spcPts val="700"/>
              </a:spcBef>
              <a:spcAft>
                <a:spcPts val="700"/>
              </a:spcAft>
              <a:buAutoNum type="alphaUcPeriod"/>
            </a:pPr>
            <a:r>
              <a:rPr lang="en-US">
                <a:solidFill>
                  <a:srgbClr val="000000"/>
                </a:solidFill>
                <a:latin typeface="Calibri (Body)"/>
              </a:rPr>
              <a:t>The development of new programming languages
Classifying problems as solvable or unsolvable
Creating user-friendly software applications
Enhancing computer hardware capabilities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CEBE7A5-9316-4297-BEDE-0299222E94A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202" y="3951228"/>
            <a:ext cx="1506651" cy="480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BE3105-E752-44CB-AAA4-CEDB9BFC6C70}"/>
              </a:ext>
            </a:extLst>
          </p:cNvPr>
          <p:cNvSpPr txBox="1"/>
          <p:nvPr/>
        </p:nvSpPr>
        <p:spPr>
          <a:xfrm>
            <a:off x="623621" y="4577363"/>
            <a:ext cx="7896758" cy="369332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>
                <a:solidFill>
                  <a:srgbClr val="159B48"/>
                </a:solidFill>
                <a:latin typeface="Calibri (Body)"/>
              </a:rPr>
              <a:t>Correct answer: B</a:t>
            </a:r>
          </a:p>
        </p:txBody>
      </p:sp>
      <p:pic>
        <p:nvPicPr>
          <p:cNvPr id="16" name="btnInknoeActivityCp2">
            <a:extLst>
              <a:ext uri="{FF2B5EF4-FFF2-40B4-BE49-F238E27FC236}">
                <a16:creationId xmlns:a16="http://schemas.microsoft.com/office/drawing/2014/main" id="{BEFDD54A-4294-4B72-8BFC-54EE8B5E14B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r:link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220" y="5768600"/>
            <a:ext cx="1666536" cy="4357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859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6CAFB373-B589-40BB-AB31-A741DC3F5A5B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3910" y="331241"/>
            <a:ext cx="479580" cy="479580"/>
          </a:xfrm>
        </p:spPr>
      </p:pic>
      <p:sp>
        <p:nvSpPr>
          <p:cNvPr id="5" name="Header top shape">
            <a:extLst>
              <a:ext uri="{FF2B5EF4-FFF2-40B4-BE49-F238E27FC236}">
                <a16:creationId xmlns:a16="http://schemas.microsoft.com/office/drawing/2014/main" id="{451A6B37-72B3-4265-B50C-2AABDEFD9E62}"/>
              </a:ext>
            </a:extLst>
          </p:cNvPr>
          <p:cNvSpPr txBox="1"/>
          <p:nvPr/>
        </p:nvSpPr>
        <p:spPr>
          <a:xfrm>
            <a:off x="3173490" y="370976"/>
            <a:ext cx="6096000" cy="400110"/>
          </a:xfrm>
          <a:prstGeom prst="rect">
            <a:avLst/>
          </a:prstGeom>
          <a:noFill/>
        </p:spPr>
        <p:txBody>
          <a:bodyPr vert="horz" rtlCol="0">
            <a:normAutofit/>
          </a:bodyPr>
          <a:lstStyle/>
          <a:p>
            <a:r>
              <a:rPr lang="en-US" sz="2000">
                <a:solidFill>
                  <a:srgbClr val="49454F"/>
                </a:solidFill>
                <a:latin typeface="Roboto"/>
              </a:rPr>
              <a:t>Multiple Choice submissions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09BC57-910F-4F11-974E-CD8980CF0D52}"/>
              </a:ext>
            </a:extLst>
          </p:cNvPr>
          <p:cNvPicPr>
            <a:picLocks noChangeAspect="1"/>
          </p:cNvPicPr>
          <p:nvPr/>
        </p:nvPicPr>
        <p:blipFill>
          <a:blip r:embed="rId3" r:link="rId4"/>
          <a:stretch>
            <a:fillRect/>
          </a:stretch>
        </p:blipFill>
        <p:spPr>
          <a:xfrm>
            <a:off x="457200" y="1028700"/>
            <a:ext cx="8229600" cy="394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27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0B65C-4738-E171-B326-9FCF0890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E60EA-F979-845F-3A69-55B16C37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Automata Theory</a:t>
            </a:r>
          </a:p>
          <a:p>
            <a:r>
              <a:rPr lang="en-US" dirty="0"/>
              <a:t>Deal with a computational model</a:t>
            </a:r>
          </a:p>
          <a:p>
            <a:pPr lvl="1"/>
            <a:r>
              <a:rPr lang="en-US" dirty="0"/>
              <a:t>Properties and definition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Finite Automata.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These are used in text processing, compilers, and hardware design.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CMSY10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Context-Free Grammar.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These are used to define programming languages and in Artificial Intelligence.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CMSY10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Turing Machines.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CMR12"/>
              </a:rPr>
              <a:t>These form a simple abstract model of a “real” computer, such as your PC at home.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K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72590A-3587-13B3-2C15-87E4A847D7FA}"/>
              </a:ext>
            </a:extLst>
          </p:cNvPr>
          <p:cNvSpPr/>
          <p:nvPr/>
        </p:nvSpPr>
        <p:spPr>
          <a:xfrm>
            <a:off x="767861" y="5416063"/>
            <a:ext cx="7608277" cy="11371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 dirty="0">
              <a:solidFill>
                <a:srgbClr val="000000"/>
              </a:solidFill>
              <a:effectLst/>
              <a:latin typeface="CMBX12"/>
            </a:endParaRPr>
          </a:p>
          <a:p>
            <a:pPr algn="ctr"/>
            <a:endParaRPr lang="en-US" sz="1800" b="0" i="0" dirty="0">
              <a:solidFill>
                <a:srgbClr val="000000"/>
              </a:solidFill>
              <a:effectLst/>
              <a:latin typeface="CMBX12"/>
            </a:endParaRPr>
          </a:p>
          <a:p>
            <a:pPr algn="ctr"/>
            <a:r>
              <a:rPr lang="en-US" sz="1800" b="0" i="0" dirty="0">
                <a:solidFill>
                  <a:srgbClr val="FF0000"/>
                </a:solidFill>
                <a:effectLst/>
                <a:latin typeface="CMBX12"/>
              </a:rPr>
              <a:t>Central Question in Automata Theory: </a:t>
            </a:r>
          </a:p>
          <a:p>
            <a:pPr algn="ctr"/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Do these models have the same power, or can one model solve more problems than the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MR12"/>
              </a:rPr>
              <a:t>other?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794903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148B-39ED-348D-DC94-11FA5FDA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169E7-9245-E924-32EB-A45D78D4A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to expect in this course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About the fundamental capabilities and limitations of computers which are core topics of computer science.</a:t>
            </a:r>
          </a:p>
          <a:p>
            <a:r>
              <a:rPr lang="en-US" sz="2000" dirty="0">
                <a:solidFill>
                  <a:srgbClr val="000000"/>
                </a:solidFill>
                <a:latin typeface="CMR12"/>
              </a:rPr>
              <a:t>A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bout mathematical properties of computer hardware and software.</a:t>
            </a:r>
          </a:p>
          <a:p>
            <a:r>
              <a:rPr lang="en-US" sz="2000" dirty="0">
                <a:solidFill>
                  <a:srgbClr val="000000"/>
                </a:solidFill>
                <a:latin typeface="CMR12"/>
              </a:rPr>
              <a:t>The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 theory is very much relevant to practice, for example, in the design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of new programming languages, compilers, string searching, pattern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matching, computer security, artificial intelligence, etc., etc.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 This course helps you to learn problem-solving skills. Theory teaches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you how to think, prove, argue, solve problems, express, and abstract.</a:t>
            </a:r>
            <a:r>
              <a:rPr lang="en-US" sz="2000" dirty="0"/>
              <a:t> 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This theory simplifies complex computers to an abstract and simple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mathematical model, and helps you to understand them better.</a:t>
            </a: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 This course is about rigorously analyzing capabilities and limitations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CMR12"/>
              </a:rPr>
              <a:t>of systems.</a:t>
            </a:r>
            <a:r>
              <a:rPr lang="en-US" sz="2000" dirty="0"/>
              <a:t> </a:t>
            </a:r>
            <a:br>
              <a:rPr lang="en-US" sz="2000" dirty="0"/>
            </a:br>
            <a:br>
              <a:rPr lang="en-US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934369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7E96-D1EA-1B1A-98FE-0B13AA6B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mathematics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DB49D-CCFB-F0DD-B982-D2311196E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Mathematics preliminaries</a:t>
            </a:r>
          </a:p>
          <a:p>
            <a:pPr lvl="1"/>
            <a:r>
              <a:rPr lang="en-US" dirty="0"/>
              <a:t>Sets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Graph</a:t>
            </a:r>
          </a:p>
          <a:p>
            <a:pPr lvl="1"/>
            <a:r>
              <a:rPr lang="en-US" dirty="0"/>
              <a:t>proofs</a:t>
            </a:r>
          </a:p>
          <a:p>
            <a:pPr lvl="1"/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106356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FEAAA786-5296-EF56-F0B1-F9C7194D1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Sets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E52F9343-C6F2-3FE1-E035-50AB5E3196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7870825" cy="4011612"/>
          </a:xfrm>
        </p:spPr>
        <p:txBody>
          <a:bodyPr>
            <a:normAutofit/>
          </a:bodyPr>
          <a:lstStyle/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Elements of a set: (physical) objects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Set: never physical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</a:t>
            </a:r>
            <a:r>
              <a:rPr lang="en-US" altLang="en-US" sz="2400" dirty="0">
                <a:solidFill>
                  <a:schemeClr val="tx1"/>
                </a:solidFill>
                <a:latin typeface="Symbol" panose="05050102010706020507" pitchFamily="18" charset="2"/>
              </a:rPr>
              <a:t>Î</a:t>
            </a:r>
            <a:r>
              <a:rPr lang="en-US" altLang="en-US" sz="2400" dirty="0">
                <a:solidFill>
                  <a:schemeClr val="tx1"/>
                </a:solidFill>
              </a:rPr>
              <a:t> S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</a:rPr>
              <a:t>Members of sets may be sets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S = {0, 1, {0, 1}}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</a:rPr>
              <a:t>Cardinality: card(S) = 3 (number of elements in a set)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</a:rPr>
              <a:t>Singleton: S = {a} ( with one element)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</a:rPr>
              <a:t>Sets 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 lists (</a:t>
            </a:r>
            <a:r>
              <a:rPr lang="en-US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unordered, elements are unique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Set = family = class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E3BFFF9D-7323-28C2-AAAC-B2CAC578D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Naming Sets</a:t>
            </a:r>
          </a:p>
        </p:txBody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269D90FE-B59A-6515-6354-C3BD340BB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7826375" cy="3724275"/>
          </a:xfrm>
        </p:spPr>
        <p:txBody>
          <a:bodyPr/>
          <a:lstStyle/>
          <a:p>
            <a:pPr marL="476250" indent="-476250">
              <a:lnSpc>
                <a:spcPct val="90000"/>
              </a:lnSpc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Finite sets {a,e,i,o,u}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Infinite sets: mathematics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enumerate elements in an extended sense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Natural numbers N = {0,1,2,…}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Integers Z = {…,-2,-1,0,1,2,…}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Set abstraction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{n|n is prime} or {n:n is prime}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{n|…n…} or {n:…n…}: abstraction operator: the set of all n such that n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{n|n </a:t>
            </a:r>
            <a:r>
              <a:rPr lang="en-US" altLang="en-US" sz="2100">
                <a:solidFill>
                  <a:schemeClr val="tx1"/>
                </a:solidFill>
                <a:latin typeface="Symbol" panose="05050102010706020507" pitchFamily="18" charset="2"/>
              </a:rPr>
              <a:t>Î </a:t>
            </a:r>
            <a:r>
              <a:rPr lang="en-US" altLang="en-US" sz="2100">
                <a:solidFill>
                  <a:schemeClr val="tx1"/>
                </a:solidFill>
              </a:rPr>
              <a:t>N &amp; 2|n}: all even natural numbers</a:t>
            </a:r>
            <a:endParaRPr lang="en-US" altLang="en-US" sz="21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lnSpc>
                <a:spcPct val="90000"/>
              </a:lnSpc>
              <a:buFontTx/>
              <a:buNone/>
            </a:pPr>
            <a:endParaRPr lang="en-US" altLang="en-US" sz="24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>
              <a:lnSpc>
                <a:spcPct val="90000"/>
              </a:lnSpc>
            </a:pPr>
            <a:endParaRPr lang="en-US" altLang="en-US" sz="21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00CAC87F-E12D-EBA6-C971-0D9758999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Naming Sets</a:t>
            </a: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07985824-F6FC-B6BB-FD0F-8239AEA12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7826375" cy="3724275"/>
          </a:xfrm>
        </p:spPr>
        <p:txBody>
          <a:bodyPr/>
          <a:lstStyle/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Use variables n,m,k,j,…: natural numbers / integers</a:t>
            </a:r>
          </a:p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Use variables x,y,z,…: rational/real numbers</a:t>
            </a:r>
          </a:p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Set variables: uppercase letters (A,B,C)</a:t>
            </a:r>
          </a:p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Universal set: U</a:t>
            </a:r>
          </a:p>
          <a:p>
            <a:pPr marL="876300" lvl="1" indent="-419100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U by set abstraction {x|x=x}</a:t>
            </a:r>
          </a:p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Empty Set: </a:t>
            </a:r>
          </a:p>
          <a:p>
            <a:pPr marL="876300" lvl="1" indent="-419100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 by set abstraction {x|xx}</a:t>
            </a:r>
          </a:p>
          <a:p>
            <a:pPr marL="876300" lvl="1" indent="-419100"/>
            <a:endParaRPr lang="en-US" altLang="en-US" sz="21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buFontTx/>
              <a:buNone/>
            </a:pPr>
            <a:endParaRPr lang="en-US" altLang="en-US" sz="24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/>
            <a:endParaRPr lang="en-US" altLang="en-US" sz="21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CAE19363-6362-1C21-BFD3-27B53C8F6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Subsets</a:t>
            </a: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315F2543-AF36-EEC8-4E7E-43C202D19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7826375" cy="3724275"/>
          </a:xfrm>
        </p:spPr>
        <p:txBody>
          <a:bodyPr/>
          <a:lstStyle/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= {0,1,2,3,4}    A is subset of N or AN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is a subset of B</a:t>
            </a:r>
          </a:p>
          <a:p>
            <a:pPr marL="876300" lvl="1" indent="-419100"/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For any x, x  A implies x  B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Consequences:</a:t>
            </a:r>
          </a:p>
          <a:p>
            <a:pPr marL="876300" lvl="1" indent="-419100"/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Every set is a subset of itself</a:t>
            </a:r>
          </a:p>
          <a:p>
            <a:pPr marL="876300" lvl="1" indent="-419100"/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  A, for any set A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“proper subset”: non-identical subset( not identical)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{1,2,3}  {1,2,3,4}</a:t>
            </a:r>
          </a:p>
          <a:p>
            <a:pPr marL="476250" indent="-476250"/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/>
            <a:endParaRPr lang="en-US" altLang="en-US" sz="21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buFontTx/>
              <a:buNone/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/>
            <a:endParaRPr lang="en-US" altLang="en-US" sz="21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>
            <a:extLst>
              <a:ext uri="{FF2B5EF4-FFF2-40B4-BE49-F238E27FC236}">
                <a16:creationId xmlns:a16="http://schemas.microsoft.com/office/drawing/2014/main" id="{74FDF694-EC89-3C12-6414-FFDAC2BFB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Power sets</a:t>
            </a:r>
          </a:p>
        </p:txBody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AEEB0BD1-DAA5-8F65-D420-18A102C62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7826375" cy="3724275"/>
          </a:xfrm>
        </p:spPr>
        <p:txBody>
          <a:bodyPr/>
          <a:lstStyle/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P(S): power of set S 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the set that contains all subsets of a given set.</a:t>
            </a:r>
          </a:p>
          <a:p>
            <a:pPr marL="876300" lvl="1" indent="-419100"/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Set of all subsets of S</a:t>
            </a:r>
          </a:p>
          <a:p>
            <a:pPr marL="876300" lvl="1" indent="-419100"/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P(S) = {A|A  S}</a:t>
            </a:r>
          </a:p>
          <a:p>
            <a:pPr marL="876300" lvl="1" indent="-419100"/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e.g. S = {1,2,3}</a:t>
            </a:r>
          </a:p>
          <a:p>
            <a:pPr marL="1257300" lvl="2" indent="-342900">
              <a:buFontTx/>
              <a:buNone/>
            </a:pP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	P(S) = {,{1},{2},{3},{1,2},{1,3},{2,3},{1,2,3}}</a:t>
            </a:r>
          </a:p>
          <a:p>
            <a:pPr marL="476250" indent="-476250"/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Unary set-forming operation</a:t>
            </a:r>
          </a:p>
          <a:p>
            <a:pPr marL="476250" indent="-476250"/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For any finite set S, we have card(P(S)) = 2</a:t>
            </a:r>
            <a:r>
              <a:rPr lang="en-US" altLang="en-US" sz="22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card(S)</a:t>
            </a:r>
            <a:endParaRPr lang="en-US" altLang="en-US" sz="22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buFontTx/>
              <a:buNone/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/>
            <a:endParaRPr lang="en-US" altLang="en-US" sz="21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4D8D1B34-7DB0-CE1A-466B-09C8DC02A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forming</a:t>
            </a: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CEA2A305-77BF-D592-83F5-9110C5BCB6D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403722"/>
            <a:ext cx="4495800" cy="4718304"/>
          </a:xfrm>
        </p:spPr>
        <p:txBody>
          <a:bodyPr>
            <a:normAutofit fontScale="92500" lnSpcReduction="10000"/>
          </a:bodyPr>
          <a:lstStyle/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Binary</a:t>
            </a: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 set-forming operations</a:t>
            </a:r>
          </a:p>
          <a:p>
            <a:pPr marL="876300" lvl="1" indent="-419100"/>
            <a:r>
              <a:rPr lang="en-US" altLang="en-US" sz="2100" b="1" dirty="0">
                <a:solidFill>
                  <a:schemeClr val="tx1"/>
                </a:solidFill>
                <a:sym typeface="Symbol" panose="05050102010706020507" pitchFamily="18" charset="2"/>
              </a:rPr>
              <a:t>Union</a:t>
            </a: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 of A and B:  A  B</a:t>
            </a:r>
          </a:p>
          <a:p>
            <a:pPr marL="1257300" lvl="2" indent="-342900"/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 two sets X and Y is equal to the set of elements that are present  in both the sets X and Y</a:t>
            </a:r>
          </a:p>
          <a:p>
            <a:pPr marL="1257300" lvl="2" indent="-342900"/>
            <a:r>
              <a:rPr lang="en-US" altLang="en-US" sz="2100" b="1" dirty="0">
                <a:solidFill>
                  <a:schemeClr val="tx1"/>
                </a:solidFill>
                <a:sym typeface="Symbol" panose="05050102010706020507" pitchFamily="18" charset="2"/>
              </a:rPr>
              <a:t>Intersection</a:t>
            </a: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 of A and B: A  B</a:t>
            </a:r>
          </a:p>
          <a:p>
            <a:pPr marL="1257300" lvl="2" indent="-342900"/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{</a:t>
            </a:r>
            <a:r>
              <a:rPr lang="en-US" altLang="en-US" sz="1700" dirty="0" err="1">
                <a:solidFill>
                  <a:schemeClr val="tx1"/>
                </a:solidFill>
                <a:sym typeface="Symbol" panose="05050102010706020507" pitchFamily="18" charset="2"/>
              </a:rPr>
              <a:t>x|x</a:t>
            </a: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  A and x  B}</a:t>
            </a:r>
          </a:p>
          <a:p>
            <a:pPr marL="876300" lvl="1" indent="-419100"/>
            <a:r>
              <a:rPr lang="en-US" altLang="en-US" sz="2100" b="1" dirty="0">
                <a:solidFill>
                  <a:schemeClr val="tx1"/>
                </a:solidFill>
                <a:sym typeface="Symbol" panose="05050102010706020507" pitchFamily="18" charset="2"/>
              </a:rPr>
              <a:t>Complement</a:t>
            </a: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 of B relative to A</a:t>
            </a:r>
          </a:p>
          <a:p>
            <a:pPr marL="876300" lvl="1" indent="-419100"/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Set U = {2, 4, 6, 8, 10, 12} and set A = {4, 6, 8}, then the complement of set A, A′ = {2, 10, 12}.</a:t>
            </a:r>
          </a:p>
          <a:p>
            <a:pPr marL="876300" lvl="1" indent="-419100"/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n-US" sz="2100" b="1" dirty="0">
                <a:solidFill>
                  <a:schemeClr val="tx1"/>
                </a:solidFill>
                <a:sym typeface="Symbol" panose="05050102010706020507" pitchFamily="18" charset="2"/>
              </a:rPr>
              <a:t>Symmetric</a:t>
            </a: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 Difference of A and B: A  B</a:t>
            </a:r>
          </a:p>
          <a:p>
            <a:pPr marL="1257300" lvl="2" indent="-342900"/>
            <a:r>
              <a:rPr lang="en-US" sz="1600" i="1" dirty="0"/>
              <a:t>the set of elements that are in either set, but not in the intersection</a:t>
            </a:r>
            <a:r>
              <a:rPr lang="en-US" sz="1600" dirty="0"/>
              <a:t>.</a:t>
            </a:r>
            <a:endParaRPr lang="en-US" altLang="en-US" sz="17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/>
            <a:endParaRPr lang="en-US" altLang="en-US" sz="21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C020768-7186-12E0-A188-43BDC3F887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63661" y="1367726"/>
            <a:ext cx="3686907" cy="426787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C1D9AF-1032-4AF4-D1DE-A9DCB691942F}"/>
              </a:ext>
            </a:extLst>
          </p:cNvPr>
          <p:cNvSpPr/>
          <p:nvPr/>
        </p:nvSpPr>
        <p:spPr>
          <a:xfrm>
            <a:off x="914400" y="5926015"/>
            <a:ext cx="8036168" cy="7326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Compliment-set that contains the elements present in the universal set but not in set A.</a:t>
            </a:r>
            <a:endParaRPr lang="en-KE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8ED2DE83-61C5-EE0B-4536-4C165C021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Some laws/ de morgans laws</a:t>
            </a:r>
          </a:p>
        </p:txBody>
      </p:sp>
      <p:sp>
        <p:nvSpPr>
          <p:cNvPr id="305155" name="Rectangle 3">
            <a:extLst>
              <a:ext uri="{FF2B5EF4-FFF2-40B4-BE49-F238E27FC236}">
                <a16:creationId xmlns:a16="http://schemas.microsoft.com/office/drawing/2014/main" id="{DD3F22C1-8AF0-6A41-A326-58A4131B3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4100756"/>
          </a:xfrm>
        </p:spPr>
        <p:txBody>
          <a:bodyPr>
            <a:normAutofit fontScale="92500" lnSpcReduction="10000"/>
          </a:bodyPr>
          <a:lstStyle/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S  S</a:t>
            </a:r>
            <a:r>
              <a:rPr lang="en-US" altLang="en-U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= U 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S  S</a:t>
            </a:r>
            <a:r>
              <a:rPr lang="en-US" altLang="en-U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= 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(S</a:t>
            </a:r>
            <a:r>
              <a:rPr lang="en-US" altLang="en-U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en-U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 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= S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 B = B 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 B = B 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(A  B)  C = A  (B  C)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(A  B)  C = A  (B  C)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 (B  C) = (A  B)  (A  C)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 (B  C) = (A  B)  (A  C)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(A  B)</a:t>
            </a:r>
            <a:r>
              <a:rPr lang="en-US" altLang="en-U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= A</a:t>
            </a:r>
            <a:r>
              <a:rPr lang="en-US" altLang="en-U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 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sz="2400" baseline="30000" dirty="0" err="1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(A  B)</a:t>
            </a:r>
            <a:r>
              <a:rPr lang="en-US" altLang="en-U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= A</a:t>
            </a:r>
            <a:r>
              <a:rPr lang="en-US" altLang="en-US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 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sz="2400" baseline="30000" dirty="0" err="1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>
              <a:lnSpc>
                <a:spcPct val="90000"/>
              </a:lnSpc>
            </a:pPr>
            <a:endParaRPr lang="en-US" altLang="en-US" sz="21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>
              <a:lnSpc>
                <a:spcPct val="90000"/>
              </a:lnSpc>
            </a:pPr>
            <a:endParaRPr lang="en-US" altLang="en-US" sz="21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65E4EC6B-85F4-8BBB-3B45-A6E496403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Tuples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2561ABC0-C6A6-B69C-71CD-E5330FCD3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4798279"/>
          </a:xfrm>
        </p:spPr>
        <p:txBody>
          <a:bodyPr/>
          <a:lstStyle/>
          <a:p>
            <a:pPr marL="476250" indent="-476250">
              <a:lnSpc>
                <a:spcPct val="90000"/>
              </a:lnSpc>
            </a:pPr>
            <a:r>
              <a:rPr lang="en-US" sz="1800" b="1" dirty="0"/>
              <a:t>a finite ordered list of elements</a:t>
            </a:r>
          </a:p>
          <a:p>
            <a:pPr marL="476250" indent="-476250">
              <a:lnSpc>
                <a:spcPct val="90000"/>
              </a:lnSpc>
            </a:pPr>
            <a:r>
              <a:rPr lang="en-US" sz="1800" dirty="0"/>
              <a:t>An </a:t>
            </a:r>
            <a:r>
              <a:rPr lang="en-US" sz="1800" b="1" i="1" dirty="0">
                <a:effectLst/>
              </a:rPr>
              <a:t>n</a:t>
            </a:r>
            <a:r>
              <a:rPr lang="en-US" sz="1800" b="1" dirty="0"/>
              <a:t>-tuple</a:t>
            </a:r>
            <a:r>
              <a:rPr lang="en-US" sz="1800" dirty="0"/>
              <a:t> is a tuple of </a:t>
            </a:r>
            <a:r>
              <a:rPr lang="en-US" sz="1800" i="1" dirty="0">
                <a:effectLst/>
              </a:rPr>
              <a:t>n</a:t>
            </a:r>
            <a:r>
              <a:rPr lang="en-US" sz="1800" dirty="0"/>
              <a:t> elements, where </a:t>
            </a:r>
            <a:r>
              <a:rPr lang="en-US" sz="1800" i="1" dirty="0">
                <a:effectLst/>
              </a:rPr>
              <a:t>n</a:t>
            </a:r>
            <a:r>
              <a:rPr lang="en-US" sz="1800" dirty="0"/>
              <a:t> is a non-negative </a:t>
            </a:r>
            <a:r>
              <a:rPr lang="en-US" sz="1800" dirty="0">
                <a:hlinkClick r:id="rId3" tooltip="Integ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integer</a:t>
            </a:r>
            <a:r>
              <a:rPr lang="en-US" sz="1800" dirty="0"/>
              <a:t>.</a:t>
            </a:r>
          </a:p>
          <a:p>
            <a:pPr marL="476250" indent="-476250">
              <a:lnSpc>
                <a:spcPct val="90000"/>
              </a:lnSpc>
            </a:pPr>
            <a:r>
              <a:rPr lang="en-US" sz="1800" dirty="0"/>
              <a:t>There is only one 0-tuple, called the </a:t>
            </a:r>
            <a:r>
              <a:rPr lang="en-US" sz="1800" i="1" dirty="0"/>
              <a:t>empty tuple</a:t>
            </a:r>
            <a:r>
              <a:rPr lang="en-US" sz="1800" dirty="0"/>
              <a:t>. A 1-tuple and a 2-tuple are commonly called respectively a </a:t>
            </a:r>
            <a:r>
              <a:rPr lang="en-US" sz="1800" dirty="0">
                <a:hlinkClick r:id="rId4" tooltip="Singleton (mathematic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singleton</a:t>
            </a:r>
            <a:r>
              <a:rPr lang="en-US" sz="1800" dirty="0"/>
              <a:t> and an </a:t>
            </a:r>
            <a:r>
              <a:rPr lang="en-US" sz="1800" dirty="0">
                <a:hlinkClick r:id="rId5" tooltip="Ordered pai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ordered pair</a:t>
            </a:r>
            <a:r>
              <a:rPr lang="en-US" sz="1800" dirty="0"/>
              <a:t>. 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marL="476250" indent="-476250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Ordered pair: &lt;</a:t>
            </a:r>
            <a:r>
              <a:rPr lang="en-US" altLang="en-US" sz="1800" dirty="0" err="1">
                <a:solidFill>
                  <a:schemeClr val="tx1"/>
                </a:solidFill>
                <a:sym typeface="Symbol" panose="05050102010706020507" pitchFamily="18" charset="2"/>
              </a:rPr>
              <a:t>a,b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&gt; = &lt;</a:t>
            </a:r>
            <a:r>
              <a:rPr lang="en-US" altLang="en-US" sz="1800" dirty="0" err="1">
                <a:solidFill>
                  <a:schemeClr val="tx1"/>
                </a:solidFill>
                <a:sym typeface="Symbol" panose="05050102010706020507" pitchFamily="18" charset="2"/>
              </a:rPr>
              <a:t>c,d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&gt; </a:t>
            </a:r>
            <a:r>
              <a:rPr lang="en-US" altLang="en-US" sz="1800" dirty="0" err="1">
                <a:solidFill>
                  <a:schemeClr val="tx1"/>
                </a:solidFill>
                <a:sym typeface="Symbol" panose="05050102010706020507" pitchFamily="18" charset="2"/>
              </a:rPr>
              <a:t>iff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 a = c and b = d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Cartesian product of sets A and B: A x B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A </a:t>
            </a:r>
            <a:r>
              <a:rPr lang="en-US" altLang="en-US" sz="1800" i="1" dirty="0">
                <a:solidFill>
                  <a:schemeClr val="tx1"/>
                </a:solidFill>
                <a:sym typeface="Symbol" panose="05050102010706020507" pitchFamily="18" charset="2"/>
              </a:rPr>
              <a:t>cross 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Set of all ordered pairs whose first element comes from A and whose second element comes from B</a:t>
            </a:r>
          </a:p>
          <a:p>
            <a:pPr marL="876300" lvl="1" indent="-419100">
              <a:lnSpc>
                <a:spcPct val="9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	A x B = {&lt;</a:t>
            </a:r>
            <a:r>
              <a:rPr lang="en-US" altLang="en-US" sz="1800" dirty="0" err="1">
                <a:solidFill>
                  <a:schemeClr val="tx1"/>
                </a:solidFill>
                <a:sym typeface="Symbol" panose="05050102010706020507" pitchFamily="18" charset="2"/>
              </a:rPr>
              <a:t>a,b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&gt;| a  A and b  B}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1900" dirty="0">
                <a:solidFill>
                  <a:srgbClr val="FF0000"/>
                </a:solidFill>
                <a:sym typeface="Symbol" panose="05050102010706020507" pitchFamily="18" charset="2"/>
              </a:rPr>
              <a:t>the set of all ordered pairs (x, y) such that x belongs to A and y belongs to B. For example, if A = {1, 2} and B = {3, 4, 5}, then the Cartesian Product of A and B is {(1, 3), (1, 4), (1, 5), (2, 3), (2, 4), (2, 5)}.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65E4EC6B-85F4-8BBB-3B45-A6E496403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Tuples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2561ABC0-C6A6-B69C-71CD-E5330FCD3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4798279"/>
          </a:xfrm>
        </p:spPr>
        <p:txBody>
          <a:bodyPr>
            <a:normAutofit fontScale="92500" lnSpcReduction="10000"/>
          </a:bodyPr>
          <a:lstStyle/>
          <a:p>
            <a:pPr marL="476250" indent="-476250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Ordered triple: &lt;</a:t>
            </a:r>
            <a:r>
              <a:rPr lang="en-US" altLang="en-US" sz="1800" dirty="0" err="1">
                <a:solidFill>
                  <a:schemeClr val="tx1"/>
                </a:solidFill>
                <a:sym typeface="Symbol" panose="05050102010706020507" pitchFamily="18" charset="2"/>
              </a:rPr>
              <a:t>a,b,c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&gt; and A x B x C: set of ordered triples</a:t>
            </a:r>
          </a:p>
          <a:p>
            <a:pPr marL="476250" indent="-476250">
              <a:lnSpc>
                <a:spcPct val="9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	A x B x C: {&lt;</a:t>
            </a:r>
            <a:r>
              <a:rPr lang="en-US" altLang="en-US" sz="1800" dirty="0" err="1">
                <a:solidFill>
                  <a:schemeClr val="tx1"/>
                </a:solidFill>
                <a:sym typeface="Symbol" panose="05050102010706020507" pitchFamily="18" charset="2"/>
              </a:rPr>
              <a:t>a,b,c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&gt;|a  A and b  B and c  C}</a:t>
            </a:r>
          </a:p>
          <a:p>
            <a:r>
              <a:rPr lang="en-US" sz="1400" dirty="0"/>
              <a:t>Find the Cartesian product of three sets A = {a, b}, B = {1, 2} and C = {x, y}.</a:t>
            </a:r>
          </a:p>
          <a:p>
            <a:r>
              <a:rPr lang="en-US" sz="1400" b="1" dirty="0"/>
              <a:t>Solution:</a:t>
            </a:r>
            <a:endParaRPr lang="en-US" sz="1400" dirty="0"/>
          </a:p>
          <a:p>
            <a:r>
              <a:rPr lang="en-US" sz="1400" dirty="0"/>
              <a:t>Given, A = {a, b} B = {1, 2} C = {x, y}</a:t>
            </a:r>
          </a:p>
          <a:p>
            <a:r>
              <a:rPr lang="en-US" sz="1400" dirty="0"/>
              <a:t>The ordered pairs of A × B × C can be formed as given below:</a:t>
            </a:r>
          </a:p>
          <a:p>
            <a:r>
              <a:rPr lang="en-US" sz="1400" dirty="0"/>
              <a:t>1st pair ⇒ {</a:t>
            </a:r>
            <a:r>
              <a:rPr lang="en-US" sz="1400" b="1" dirty="0"/>
              <a:t>a</a:t>
            </a:r>
            <a:r>
              <a:rPr lang="en-US" sz="1400" dirty="0"/>
              <a:t>, b} × {</a:t>
            </a:r>
            <a:r>
              <a:rPr lang="en-US" sz="1400" b="1" dirty="0"/>
              <a:t>1</a:t>
            </a:r>
            <a:r>
              <a:rPr lang="en-US" sz="1400" dirty="0"/>
              <a:t>, 2} × {</a:t>
            </a:r>
            <a:r>
              <a:rPr lang="en-US" sz="1400" b="1" dirty="0"/>
              <a:t>x</a:t>
            </a:r>
            <a:r>
              <a:rPr lang="en-US" sz="1400" dirty="0"/>
              <a:t>, y} ⇒ (a, 1, x)</a:t>
            </a:r>
          </a:p>
          <a:p>
            <a:r>
              <a:rPr lang="en-US" sz="1400" dirty="0"/>
              <a:t>2nd pair ⇒ {</a:t>
            </a:r>
            <a:r>
              <a:rPr lang="en-US" sz="1400" b="1" dirty="0"/>
              <a:t>a</a:t>
            </a:r>
            <a:r>
              <a:rPr lang="en-US" sz="1400" dirty="0"/>
              <a:t>, b} × {</a:t>
            </a:r>
            <a:r>
              <a:rPr lang="en-US" sz="1400" b="1" dirty="0"/>
              <a:t>1</a:t>
            </a:r>
            <a:r>
              <a:rPr lang="en-US" sz="1400" dirty="0"/>
              <a:t>, 2} × {x, </a:t>
            </a:r>
            <a:r>
              <a:rPr lang="en-US" sz="1400" b="1" dirty="0"/>
              <a:t>y</a:t>
            </a:r>
            <a:r>
              <a:rPr lang="en-US" sz="1400" dirty="0"/>
              <a:t>} ⇒ (a, 1, y)</a:t>
            </a:r>
          </a:p>
          <a:p>
            <a:r>
              <a:rPr lang="en-US" sz="1400" dirty="0"/>
              <a:t>3rd pair ⇒ {</a:t>
            </a:r>
            <a:r>
              <a:rPr lang="en-US" sz="1400" b="1" dirty="0"/>
              <a:t>a</a:t>
            </a:r>
            <a:r>
              <a:rPr lang="en-US" sz="1400" dirty="0"/>
              <a:t>, b} × {1, </a:t>
            </a:r>
            <a:r>
              <a:rPr lang="en-US" sz="1400" b="1" dirty="0"/>
              <a:t>2</a:t>
            </a:r>
            <a:r>
              <a:rPr lang="en-US" sz="1400" dirty="0"/>
              <a:t>} × {</a:t>
            </a:r>
            <a:r>
              <a:rPr lang="en-US" sz="1400" b="1" dirty="0"/>
              <a:t>x</a:t>
            </a:r>
            <a:r>
              <a:rPr lang="en-US" sz="1400" dirty="0"/>
              <a:t>, y} ⇒ (a, 2, x)</a:t>
            </a:r>
          </a:p>
          <a:p>
            <a:r>
              <a:rPr lang="en-US" sz="1400" dirty="0"/>
              <a:t>4th pair ⇒ {</a:t>
            </a:r>
            <a:r>
              <a:rPr lang="en-US" sz="1400" b="1" dirty="0"/>
              <a:t>a</a:t>
            </a:r>
            <a:r>
              <a:rPr lang="en-US" sz="1400" dirty="0"/>
              <a:t>, b} × {1, </a:t>
            </a:r>
            <a:r>
              <a:rPr lang="en-US" sz="1400" b="1" dirty="0"/>
              <a:t>2</a:t>
            </a:r>
            <a:r>
              <a:rPr lang="en-US" sz="1400" dirty="0"/>
              <a:t>} × {x, </a:t>
            </a:r>
            <a:r>
              <a:rPr lang="en-US" sz="1400" b="1" dirty="0"/>
              <a:t>y</a:t>
            </a:r>
            <a:r>
              <a:rPr lang="en-US" sz="1400" dirty="0"/>
              <a:t>} ⇒ (a, 2, y)</a:t>
            </a:r>
          </a:p>
          <a:p>
            <a:r>
              <a:rPr lang="en-US" sz="1400" dirty="0"/>
              <a:t>5th pair ⇒ {a, </a:t>
            </a:r>
            <a:r>
              <a:rPr lang="en-US" sz="1400" b="1" dirty="0"/>
              <a:t>b</a:t>
            </a:r>
            <a:r>
              <a:rPr lang="en-US" sz="1400" dirty="0"/>
              <a:t>} × {</a:t>
            </a:r>
            <a:r>
              <a:rPr lang="en-US" sz="1400" b="1" dirty="0"/>
              <a:t>1</a:t>
            </a:r>
            <a:r>
              <a:rPr lang="en-US" sz="1400" dirty="0"/>
              <a:t>, 2} × {</a:t>
            </a:r>
            <a:r>
              <a:rPr lang="en-US" sz="1400" b="1" dirty="0"/>
              <a:t>x</a:t>
            </a:r>
            <a:r>
              <a:rPr lang="en-US" sz="1400" dirty="0"/>
              <a:t>, y} ⇒ (b, 1, x)</a:t>
            </a:r>
          </a:p>
          <a:p>
            <a:r>
              <a:rPr lang="en-US" sz="1400" dirty="0"/>
              <a:t>6th pair ⇒ {a, </a:t>
            </a:r>
            <a:r>
              <a:rPr lang="en-US" sz="1400" b="1" dirty="0"/>
              <a:t>b</a:t>
            </a:r>
            <a:r>
              <a:rPr lang="en-US" sz="1400" dirty="0"/>
              <a:t>} × {</a:t>
            </a:r>
            <a:r>
              <a:rPr lang="en-US" sz="1400" b="1" dirty="0"/>
              <a:t>1</a:t>
            </a:r>
            <a:r>
              <a:rPr lang="en-US" sz="1400" dirty="0"/>
              <a:t>, 2} × {x, </a:t>
            </a:r>
            <a:r>
              <a:rPr lang="en-US" sz="1400" b="1" dirty="0"/>
              <a:t>y</a:t>
            </a:r>
            <a:r>
              <a:rPr lang="en-US" sz="1400" dirty="0"/>
              <a:t>} ⇒ (b, 1, y)</a:t>
            </a:r>
          </a:p>
          <a:p>
            <a:r>
              <a:rPr lang="en-US" sz="1400" dirty="0"/>
              <a:t>7th pair ⇒ {a, </a:t>
            </a:r>
            <a:r>
              <a:rPr lang="en-US" sz="1400" b="1" dirty="0"/>
              <a:t>b</a:t>
            </a:r>
            <a:r>
              <a:rPr lang="en-US" sz="1400" dirty="0"/>
              <a:t>} × {1, </a:t>
            </a:r>
            <a:r>
              <a:rPr lang="en-US" sz="1400" b="1" dirty="0"/>
              <a:t>2</a:t>
            </a:r>
            <a:r>
              <a:rPr lang="en-US" sz="1400" dirty="0"/>
              <a:t>} × {</a:t>
            </a:r>
            <a:r>
              <a:rPr lang="en-US" sz="1400" b="1" dirty="0"/>
              <a:t>x</a:t>
            </a:r>
            <a:r>
              <a:rPr lang="en-US" sz="1400" dirty="0"/>
              <a:t>, y} ⇒ (b, 2, x)</a:t>
            </a:r>
          </a:p>
          <a:p>
            <a:r>
              <a:rPr lang="en-US" sz="1400" dirty="0"/>
              <a:t>8th pair ⇒ {a, </a:t>
            </a:r>
            <a:r>
              <a:rPr lang="en-US" sz="1400" b="1" dirty="0"/>
              <a:t>b</a:t>
            </a:r>
            <a:r>
              <a:rPr lang="en-US" sz="1400" dirty="0"/>
              <a:t>} × {1, </a:t>
            </a:r>
            <a:r>
              <a:rPr lang="en-US" sz="1400" b="1" dirty="0"/>
              <a:t>2</a:t>
            </a:r>
            <a:r>
              <a:rPr lang="en-US" sz="1400" dirty="0"/>
              <a:t>} × {x, </a:t>
            </a:r>
            <a:r>
              <a:rPr lang="en-US" sz="1400" b="1" dirty="0"/>
              <a:t>y</a:t>
            </a:r>
            <a:r>
              <a:rPr lang="en-US" sz="1400" dirty="0"/>
              <a:t>} ⇒ (b, 2, y)</a:t>
            </a:r>
          </a:p>
          <a:p>
            <a:r>
              <a:rPr lang="en-US" sz="1400" dirty="0"/>
              <a:t>Thus, the ordered pairs of A × B × C can be written as:</a:t>
            </a:r>
          </a:p>
          <a:p>
            <a:r>
              <a:rPr lang="en-US" sz="1400" dirty="0"/>
              <a:t>A × B × C = {(a, 1, x), (a, 1, y), (a, 2, x), (a, 2, y), (b, 1, x), (b, 1, y), (b, 2, x), (b, 2, y)}</a:t>
            </a:r>
          </a:p>
          <a:p>
            <a:pPr marL="476250" indent="-476250">
              <a:lnSpc>
                <a:spcPct val="90000"/>
              </a:lnSpc>
              <a:buFontTx/>
              <a:buNone/>
            </a:pPr>
            <a:endParaRPr lang="en-US" altLang="en-US" sz="1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 x A</a:t>
            </a:r>
            <a:r>
              <a:rPr lang="en-US" altLang="en-US" sz="18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 x A</a:t>
            </a:r>
            <a:r>
              <a:rPr lang="en-US" altLang="en-US" sz="18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: set of ordered k-tuples 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0-tuple: A</a:t>
            </a:r>
            <a:r>
              <a:rPr lang="en-US" altLang="en-US" sz="18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  = {&lt;&gt;}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1-tuple: A</a:t>
            </a:r>
            <a:r>
              <a:rPr lang="en-US" altLang="en-US" sz="18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 = &lt;a&gt; and A</a:t>
            </a:r>
            <a:r>
              <a:rPr lang="en-US" altLang="en-US" sz="18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 = A</a:t>
            </a:r>
            <a:r>
              <a:rPr lang="en-US" altLang="en-US" sz="18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endParaRPr lang="en-US" altLang="en-US" sz="1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876300" lvl="1" indent="-419100">
              <a:lnSpc>
                <a:spcPct val="90000"/>
              </a:lnSpc>
            </a:pPr>
            <a:endParaRPr lang="en-US" altLang="en-US" sz="19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630209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1F72BF91-23EB-B0C2-1A97-CC4DC5B15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Permutation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B61F3609-D9FC-9B96-C7AF-36C4A56E1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/>
            <a:r>
              <a:rPr lang="en-US" b="0" dirty="0">
                <a:effectLst/>
              </a:rPr>
              <a:t>an arrangement of objects in a definite order</a:t>
            </a: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Given k-tuple &lt;a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,…,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&gt; we write &lt;a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u="sng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u="sng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,…,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u="sng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&gt; for any arbitrary </a:t>
            </a:r>
            <a:r>
              <a:rPr lang="en-US" altLang="en-US" sz="2400" u="sng" dirty="0">
                <a:solidFill>
                  <a:schemeClr val="tx1"/>
                </a:solidFill>
                <a:sym typeface="Symbol" panose="05050102010706020507" pitchFamily="18" charset="2"/>
              </a:rPr>
              <a:t>permutation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of k-tuple</a:t>
            </a:r>
          </a:p>
          <a:p>
            <a:pPr marL="876300" lvl="1" indent="-419100"/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Subscripts are mutually distinct and each lies between 1 and k 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&lt;a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4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&gt; = &lt;10,15,20,25&gt;</a:t>
            </a:r>
          </a:p>
          <a:p>
            <a:pPr marL="876300" lvl="1" indent="-419100">
              <a:buFontTx/>
              <a:buNone/>
            </a:pP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&lt;a</a:t>
            </a:r>
            <a:r>
              <a:rPr lang="en-US" altLang="en-US" sz="21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100" u="sng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1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100" u="sng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, a</a:t>
            </a:r>
            <a:r>
              <a:rPr lang="en-US" altLang="en-US" sz="21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100" u="sng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1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100" u="sng" baseline="-25000" dirty="0">
                <a:solidFill>
                  <a:schemeClr val="tx1"/>
                </a:solidFill>
                <a:sym typeface="Symbol" panose="05050102010706020507" pitchFamily="18" charset="2"/>
              </a:rPr>
              <a:t>4</a:t>
            </a: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&gt; = &lt;20,10,25,15&gt;</a:t>
            </a:r>
          </a:p>
          <a:p>
            <a:pPr marL="1257300" lvl="2" indent="-342900">
              <a:buFontTx/>
              <a:buNone/>
            </a:pP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with 	i1=3 	i2=1	 i3=4 	i4=2</a:t>
            </a:r>
          </a:p>
          <a:p>
            <a:pPr marL="876300" lvl="1" indent="-419100"/>
            <a:endParaRPr lang="en-US" altLang="en-US" sz="17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90950639-3117-65DA-E265-AC383120F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Principle of Extensionality</a:t>
            </a: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C8E61C0D-B50B-2C0F-A1E4-FAC1D3C31D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If A and B possess the same elements then A=B</a:t>
            </a:r>
          </a:p>
          <a:p>
            <a:pPr marL="476250" indent="-476250"/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Principle:</a:t>
            </a:r>
          </a:p>
          <a:p>
            <a:pPr marL="476250" indent="-476250"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	Let A and B be sets. In order to demonstrate that A = B, it is sufficient to show that</a:t>
            </a:r>
          </a:p>
          <a:p>
            <a:pPr marL="876300" lvl="1" indent="-419100">
              <a:buFontTx/>
              <a:buNone/>
            </a:pP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en-US" sz="1700" dirty="0" err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) every element of A is an element of B – that is A  B;</a:t>
            </a:r>
          </a:p>
          <a:p>
            <a:pPr marL="876300" lvl="1" indent="-419100">
              <a:buFontTx/>
              <a:buNone/>
            </a:pP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(ii) that every element of B is an element of A - that is B  A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DBCB15C4-73EC-7D05-6C84-91EE33ED1E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Disjoint sets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7C1C8DFE-569D-5D04-22B4-08082E898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/>
            <a:endParaRPr lang="en-US" altLang="en-US" sz="24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Two sets A and B are disjoint if AB=</a:t>
            </a:r>
          </a:p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Finite family of mutually disjoint sets = </a:t>
            </a:r>
          </a:p>
          <a:p>
            <a:pPr marL="476250" indent="-476250"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		a family of sets 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,…,A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with n  0, such that 	for any i,jn with ij we have 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A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j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=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5FA6D8-0557-5C45-648A-18E62CCF4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985" y="4541837"/>
            <a:ext cx="3419475" cy="1333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>
            <a:extLst>
              <a:ext uri="{FF2B5EF4-FFF2-40B4-BE49-F238E27FC236}">
                <a16:creationId xmlns:a16="http://schemas.microsoft.com/office/drawing/2014/main" id="{3A9F831A-7BC7-7A63-9AE7-722DD0B66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Cardinality</a:t>
            </a:r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58F253A8-5D27-276C-11F4-9B01CB438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Finite sets A and B</a:t>
            </a:r>
          </a:p>
          <a:p>
            <a:pPr marL="876300" lvl="1" indent="-419100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card(AB)  card(A) + card(B)</a:t>
            </a:r>
          </a:p>
          <a:p>
            <a:pPr marL="876300" lvl="1" indent="-419100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card(AB) = card(A) + card(B) iff AB=</a:t>
            </a:r>
          </a:p>
          <a:p>
            <a:pPr marL="876300" lvl="1" indent="-419100"/>
            <a:endParaRPr lang="en-US" altLang="en-US" sz="21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Finite family of finite sets: 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,…,A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</a:p>
          <a:p>
            <a:pPr marL="476250" indent="-476250"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	union of this family: U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</a:p>
          <a:p>
            <a:pPr marL="476250" indent="-476250"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	card(U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  card(A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 + card(A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 + … + card(A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</a:p>
          <a:p>
            <a:pPr marL="476250" indent="-476250">
              <a:buFontTx/>
              <a:buNone/>
            </a:pP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	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513D8CBB-F3A0-D7DD-2F27-9DEC24EFCC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Partition</a:t>
            </a:r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92DA1639-8ED0-9869-EE52-E1FB21928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Partition of set A: family of mutually disjoint subsets 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,A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,…,A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such that A = 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A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…A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</a:p>
          <a:p>
            <a:pPr marL="476250" indent="-476250"/>
            <a:endParaRPr lang="en-US" altLang="en-US" sz="24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/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N = {nN|n is even}  {n  N|n is odd} is a partition of N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F84121BE-9AAA-90B8-EF55-888895F1A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Formal language</a:t>
            </a: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83B7C864-5DAE-E3F8-B6FA-17791A621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>
              <a:lnSpc>
                <a:spcPct val="90000"/>
              </a:lnSpc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Formal language: specific kind of set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Formal = not natural language, programming language, …</a:t>
            </a:r>
          </a:p>
          <a:p>
            <a:pPr marL="476250" indent="-476250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	but: NLP try to </a:t>
            </a:r>
            <a:r>
              <a:rPr lang="en-US" altLang="en-US" sz="1800" i="1">
                <a:solidFill>
                  <a:schemeClr val="tx1"/>
                </a:solidFill>
                <a:sym typeface="Symbol" panose="05050102010706020507" pitchFamily="18" charset="2"/>
              </a:rPr>
              <a:t>formalize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 natural language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 b="1">
                <a:solidFill>
                  <a:schemeClr val="tx1"/>
                </a:solidFill>
                <a:sym typeface="Symbol" panose="05050102010706020507" pitchFamily="18" charset="2"/>
              </a:rPr>
              <a:t>Alphabet 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: finite set of symbols, e.g.  = {a,b}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 b="1">
                <a:solidFill>
                  <a:schemeClr val="tx1"/>
                </a:solidFill>
                <a:sym typeface="Symbol" panose="05050102010706020507" pitchFamily="18" charset="2"/>
              </a:rPr>
              <a:t>Word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 over alphabet : finite string of elements of  allowing repetition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 b="1">
                <a:solidFill>
                  <a:schemeClr val="tx1"/>
                </a:solidFill>
                <a:sym typeface="Symbol" panose="05050102010706020507" pitchFamily="18" charset="2"/>
              </a:rPr>
              <a:t>Length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 of word w = |w| = number of symbol occurrences in w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For alphabet = {a,b} we have 2</a:t>
            </a:r>
            <a:r>
              <a:rPr lang="en-US" altLang="en-US" sz="1800" baseline="30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 distinct words over  of length n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 b="1">
                <a:solidFill>
                  <a:schemeClr val="tx1"/>
                </a:solidFill>
                <a:sym typeface="Symbol" panose="05050102010706020507" pitchFamily="18" charset="2"/>
              </a:rPr>
              <a:t>Card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() = m then there exist m</a:t>
            </a:r>
            <a:r>
              <a:rPr lang="en-US" altLang="en-US" sz="1800" baseline="30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 distinct words over  of length n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Special notation: a</a:t>
            </a:r>
            <a:r>
              <a:rPr lang="en-US" altLang="en-US" sz="1800" baseline="30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aseline="30000">
                <a:solidFill>
                  <a:schemeClr val="tx1"/>
                </a:solidFill>
                <a:sym typeface="Symbol" panose="05050102010706020507" pitchFamily="18" charset="2"/>
              </a:rPr>
              <a:t>m 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word consisting of nxa and mxb</a:t>
            </a:r>
          </a:p>
          <a:p>
            <a:pPr marL="476250" indent="-476250"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	a</a:t>
            </a:r>
            <a:r>
              <a:rPr lang="en-US" altLang="en-US" sz="1800" baseline="3000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 baseline="30000">
                <a:solidFill>
                  <a:schemeClr val="tx1"/>
                </a:solidFill>
                <a:sym typeface="Symbol" panose="05050102010706020507" pitchFamily="18" charset="2"/>
              </a:rPr>
              <a:t>4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 baseline="30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 aaabbbbaa 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Distinct occurrences: n</a:t>
            </a:r>
            <a:r>
              <a:rPr lang="en-US" altLang="en-US" sz="1800" baseline="-2500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(aba)=2   n</a:t>
            </a:r>
            <a:r>
              <a:rPr lang="en-US" altLang="en-US" sz="1800" baseline="-2500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sz="1800">
                <a:solidFill>
                  <a:schemeClr val="tx1"/>
                </a:solidFill>
                <a:sym typeface="Symbol" panose="05050102010706020507" pitchFamily="18" charset="2"/>
              </a:rPr>
              <a:t>(aba)=1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086F5994-F1BA-34EC-AD86-32CBA03FB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Formal language</a:t>
            </a:r>
          </a:p>
        </p:txBody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1E32E56B-6B98-6BDF-6AA2-0761125F4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>
              <a:lnSpc>
                <a:spcPct val="90000"/>
              </a:lnSpc>
            </a:pPr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Null word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: word of length 0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Zero occurrences of a and b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 = a</a:t>
            </a:r>
            <a:r>
              <a:rPr lang="en-US" altLang="en-US" sz="2100" baseline="3000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100" baseline="-2500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() = 0 and n</a:t>
            </a:r>
            <a:r>
              <a:rPr lang="en-US" altLang="en-US" sz="2100" baseline="-2500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() = 0</a:t>
            </a:r>
          </a:p>
          <a:p>
            <a:pPr marL="876300" lvl="1" indent="-419100">
              <a:lnSpc>
                <a:spcPct val="90000"/>
              </a:lnSpc>
            </a:pPr>
            <a:endParaRPr lang="en-US" altLang="en-US" sz="21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lnSpc>
                <a:spcPct val="90000"/>
              </a:lnSpc>
            </a:pPr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*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set of all words over </a:t>
            </a:r>
          </a:p>
          <a:p>
            <a:pPr marL="476250" indent="-476250">
              <a:lnSpc>
                <a:spcPct val="90000"/>
              </a:lnSpc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Language over : any subset of *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Empty language: 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Universal language: *</a:t>
            </a:r>
          </a:p>
          <a:p>
            <a:pPr marL="876300" lvl="1" indent="-419100">
              <a:lnSpc>
                <a:spcPct val="90000"/>
              </a:lnSpc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Unit language L = {w}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169FFD5D-4931-93A0-C688-0B4318415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Operations on words</a:t>
            </a:r>
          </a:p>
        </p:txBody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5BACF894-526D-E03A-F78A-27C4EE62E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649413"/>
            <a:ext cx="8748712" cy="3724275"/>
          </a:xfrm>
        </p:spPr>
        <p:txBody>
          <a:bodyPr/>
          <a:lstStyle/>
          <a:p>
            <a:pPr marL="476250" indent="-476250">
              <a:lnSpc>
                <a:spcPct val="90000"/>
              </a:lnSpc>
            </a:pPr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Catenation/concatenation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: ww’ of words w and w’</a:t>
            </a:r>
          </a:p>
          <a:p>
            <a:pPr marL="476250" indent="-476250">
              <a:lnSpc>
                <a:spcPct val="90000"/>
              </a:lnSpc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		w is aba 	and w’ is bba</a:t>
            </a:r>
          </a:p>
          <a:p>
            <a:pPr marL="476250" indent="-476250">
              <a:lnSpc>
                <a:spcPct val="90000"/>
              </a:lnSpc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		ww’ = ababba</a:t>
            </a:r>
          </a:p>
          <a:p>
            <a:pPr marL="476250" indent="-476250">
              <a:lnSpc>
                <a:spcPct val="90000"/>
              </a:lnSpc>
              <a:buFontTx/>
              <a:buNone/>
            </a:pPr>
            <a:endParaRPr lang="en-US" altLang="en-US" sz="24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lnSpc>
                <a:spcPct val="90000"/>
              </a:lnSpc>
            </a:pPr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Reverse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of a word: w</a:t>
            </a:r>
            <a:r>
              <a:rPr lang="en-US" altLang="en-US" sz="2400" baseline="3000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</a:p>
          <a:p>
            <a:pPr marL="476250" indent="-476250">
              <a:lnSpc>
                <a:spcPct val="90000"/>
              </a:lnSpc>
              <a:buFontTx/>
              <a:buNone/>
            </a:pP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		abb</a:t>
            </a:r>
            <a:r>
              <a:rPr lang="en-US" altLang="en-US" sz="2400" baseline="3000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= bba</a:t>
            </a:r>
          </a:p>
          <a:p>
            <a:pPr marL="476250" indent="-476250">
              <a:lnSpc>
                <a:spcPct val="90000"/>
              </a:lnSpc>
            </a:pPr>
            <a:endParaRPr lang="en-US" altLang="en-US" sz="2400" b="1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lnSpc>
                <a:spcPct val="90000"/>
              </a:lnSpc>
            </a:pPr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Palindromes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over  is the language {w*|where w= w</a:t>
            </a:r>
            <a:r>
              <a:rPr lang="en-US" altLang="en-US" sz="2400" baseline="3000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>
            <a:extLst>
              <a:ext uri="{FF2B5EF4-FFF2-40B4-BE49-F238E27FC236}">
                <a16:creationId xmlns:a16="http://schemas.microsoft.com/office/drawing/2014/main" id="{BF5B70B3-1A79-89C7-FD65-4264B51F4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Operations on words</a:t>
            </a:r>
          </a:p>
        </p:txBody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B7EDD1CC-1575-8EF2-8843-9347ABFDA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4792418"/>
          </a:xfrm>
        </p:spPr>
        <p:txBody>
          <a:bodyPr>
            <a:normAutofit lnSpcReduction="10000"/>
          </a:bodyPr>
          <a:lstStyle/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word w’ is a 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prefix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of a word w if w can be written 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w’w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’’ for some word w’’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	,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a,ab,abb,abba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are prefixes of the word abba 	(first 4 are proper)</a:t>
            </a:r>
          </a:p>
          <a:p>
            <a:pPr marL="476250" indent="-476250">
              <a:buFontTx/>
              <a:buNone/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word w’’ is a </a:t>
            </a:r>
            <a:r>
              <a:rPr lang="en-US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suffix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of a word w if w can be written 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w’w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’’ for some word w’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	,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a,ba,bba,abba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are suffixes of the word abba 	(first 4 are proper)</a:t>
            </a:r>
          </a:p>
          <a:p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 word w’’ is a substring of word w if w can be written as 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w’w’’w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’’’ for some words w’ and w’’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	abba: 	  a ab bb 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ba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abb </a:t>
            </a:r>
            <a:r>
              <a:rPr lang="en-US" altLang="en-U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bba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abba</a:t>
            </a:r>
          </a:p>
          <a:p>
            <a:pPr marL="476250" indent="-476250">
              <a:buFontTx/>
              <a:buNone/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buFontTx/>
              <a:buNone/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buFontTx/>
              <a:buNone/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C4C064A5-AF2F-DE69-BDCB-E13361C73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Formal languages = sets</a:t>
            </a:r>
          </a:p>
        </p:txBody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2499E466-24E2-2B03-B6A1-B6243CCB2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All of the set-forming operations (union, intersection, …) are valid for languages as well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Binary concatenation operation: .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L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olidFill>
                  <a:srgbClr val="FF9900"/>
                </a:solidFill>
                <a:sym typeface="Symbol" panose="05050102010706020507" pitchFamily="18" charset="2"/>
              </a:rPr>
              <a:t>.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= 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def.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{w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w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|w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 L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&amp; w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 L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}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The language that results from taking a word from L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and appending to it a word from L</a:t>
            </a:r>
            <a:r>
              <a:rPr lang="en-US" altLang="en-U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</a:p>
          <a:p>
            <a:pPr marL="476250" indent="-476250"/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buFontTx/>
              <a:buNone/>
            </a:pPr>
            <a:endParaRPr lang="en-US" altLang="en-U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E5A2-2663-EC43-D0C3-85FE7AB6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grammar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93EA5D-9D4D-CBB9-C606-2DF5C014A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39895"/>
            <a:ext cx="8229600" cy="4197410"/>
          </a:xfrm>
        </p:spPr>
      </p:pic>
    </p:spTree>
    <p:extLst>
      <p:ext uri="{BB962C8B-B14F-4D97-AF65-F5344CB8AC3E}">
        <p14:creationId xmlns:p14="http://schemas.microsoft.com/office/powerpoint/2010/main" val="4013652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DCE21D70-22D6-12CB-A28C-2AC4A96C5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Kleene-Closure Operator</a:t>
            </a:r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A3E4A26C-E338-2F60-5D3B-26856F336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28775"/>
            <a:ext cx="8893175" cy="3724275"/>
          </a:xfrm>
        </p:spPr>
        <p:txBody>
          <a:bodyPr/>
          <a:lstStyle/>
          <a:p>
            <a:pPr marL="476250" indent="-476250"/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Symbol *: certain unary operation on languages</a:t>
            </a:r>
          </a:p>
          <a:p>
            <a:pPr marL="476250" indent="-476250"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Given language L</a:t>
            </a:r>
          </a:p>
          <a:p>
            <a:pPr marL="476250" indent="-476250"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L* = 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def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 {w| for some n  0, w is the concatenation of n words of L}</a:t>
            </a:r>
          </a:p>
          <a:p>
            <a:pPr marL="476250" indent="-476250"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L*: is the result of concatenating 0 or more words of L</a:t>
            </a:r>
          </a:p>
          <a:p>
            <a:pPr marL="476250" indent="-476250">
              <a:buFontTx/>
              <a:buNone/>
            </a:pPr>
            <a:endParaRPr lang="en-US" altLang="en-US" sz="20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476250" indent="-476250"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Also:</a:t>
            </a:r>
          </a:p>
          <a:p>
            <a:pPr marL="476250" indent="-476250"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 = 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def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 {w| for some n &gt; 0, w is the concatenation of n words of L}</a:t>
            </a:r>
          </a:p>
          <a:p>
            <a:pPr marL="476250" indent="-476250"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L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  L*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>
            <a:extLst>
              <a:ext uri="{FF2B5EF4-FFF2-40B4-BE49-F238E27FC236}">
                <a16:creationId xmlns:a16="http://schemas.microsoft.com/office/drawing/2014/main" id="{9F4FBDA1-8B8C-B3E3-2345-E08390425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Mapping</a:t>
            </a:r>
          </a:p>
        </p:txBody>
      </p:sp>
      <p:sp>
        <p:nvSpPr>
          <p:cNvPr id="360451" name="Rectangle 3">
            <a:extLst>
              <a:ext uri="{FF2B5EF4-FFF2-40B4-BE49-F238E27FC236}">
                <a16:creationId xmlns:a16="http://schemas.microsoft.com/office/drawing/2014/main" id="{D5629A46-42BE-67DC-6B41-7413A8800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3413" y="1649413"/>
            <a:ext cx="8510587" cy="3724275"/>
          </a:xfrm>
        </p:spPr>
        <p:txBody>
          <a:bodyPr/>
          <a:lstStyle/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Mapping: association of members of one set with members of another set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First: 	domain 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Second: codomain 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Members of domain: arguments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Members of codomain: values</a:t>
            </a:r>
          </a:p>
          <a:p>
            <a:pPr marL="476250" indent="-476250"/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Mapping f between Dom(f)=A and Cod(f)=B</a:t>
            </a:r>
          </a:p>
          <a:p>
            <a:pPr marL="476250" indent="-476250"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sym typeface="Symbol" panose="05050102010706020507" pitchFamily="18" charset="2"/>
              </a:rPr>
              <a:t>	f: A  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9B7F0D-80C8-2DD1-B9BE-CB6E9635B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137" y="2148620"/>
            <a:ext cx="2457450" cy="18573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F1FB4A-E04F-2A26-988C-39837CAB1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110" y="4706203"/>
            <a:ext cx="4088130" cy="177336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3388-C0DD-D0BC-4CE6-9FBF2592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mapping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9FD8E9-6698-04E7-9EEB-647590B86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824" y="1600200"/>
            <a:ext cx="8150352" cy="4876800"/>
          </a:xfrm>
        </p:spPr>
      </p:pic>
    </p:spTree>
    <p:extLst>
      <p:ext uri="{BB962C8B-B14F-4D97-AF65-F5344CB8AC3E}">
        <p14:creationId xmlns:p14="http://schemas.microsoft.com/office/powerpoint/2010/main" val="37208346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4956D417-DF71-9A4D-5581-7E818A0E5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</a:t>
            </a:r>
            <a:endParaRPr lang="en-GB" altLang="en-US"/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07F07D1D-628D-4FC4-05B1-3D1C82CE6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100" dirty="0"/>
              <a:t>Function = single valued mapping</a:t>
            </a:r>
          </a:p>
          <a:p>
            <a:r>
              <a:rPr lang="en-US" altLang="en-US" sz="2100" dirty="0"/>
              <a:t>A mapping f is a function if each member of Dom(f) is mapped to one and only one member of Cod(f)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Number-theoretic functions: map natural numbers unto natural numbers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Unary number-theoretic functions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f(n) = n + 1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100" dirty="0">
                <a:solidFill>
                  <a:schemeClr val="tx1"/>
                </a:solidFill>
                <a:sym typeface="Symbol" panose="05050102010706020507" pitchFamily="18" charset="2"/>
              </a:rPr>
              <a:t>Binary number-theoretic functions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		f: N</a:t>
            </a:r>
            <a:r>
              <a:rPr lang="en-US" altLang="en-US" sz="22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N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		f(</a:t>
            </a:r>
            <a:r>
              <a:rPr lang="en-US" altLang="en-US" sz="2200" dirty="0" err="1">
                <a:solidFill>
                  <a:schemeClr val="tx1"/>
                </a:solidFill>
                <a:sym typeface="Symbol" panose="05050102010706020507" pitchFamily="18" charset="2"/>
              </a:rPr>
              <a:t>n,m</a:t>
            </a: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) = n + m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K-</a:t>
            </a:r>
            <a:r>
              <a:rPr lang="en-US" altLang="en-US" sz="2200" dirty="0" err="1">
                <a:solidFill>
                  <a:schemeClr val="tx1"/>
                </a:solidFill>
                <a:sym typeface="Symbol" panose="05050102010706020507" pitchFamily="18" charset="2"/>
              </a:rPr>
              <a:t>ary</a:t>
            </a:r>
            <a:r>
              <a:rPr lang="en-US" altLang="en-US" sz="2200" dirty="0">
                <a:solidFill>
                  <a:schemeClr val="tx1"/>
                </a:solidFill>
                <a:sym typeface="Symbol" panose="05050102010706020507" pitchFamily="18" charset="2"/>
              </a:rPr>
              <a:t> number-theoretic functions f: </a:t>
            </a:r>
            <a:r>
              <a:rPr lang="en-US" altLang="en-US" sz="2200" dirty="0" err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200" baseline="30000" dirty="0" err="1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200" dirty="0" err="1">
                <a:solidFill>
                  <a:schemeClr val="tx1"/>
                </a:solidFill>
                <a:sym typeface="Symbol" panose="05050102010706020507" pitchFamily="18" charset="2"/>
              </a:rPr>
              <a:t>N</a:t>
            </a:r>
            <a:endParaRPr lang="en-US" altLang="en-US" sz="22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endParaRPr lang="en-US" altLang="en-US" sz="2100" dirty="0"/>
          </a:p>
          <a:p>
            <a:pPr lvl="1">
              <a:buFontTx/>
              <a:buNone/>
            </a:pPr>
            <a:endParaRPr lang="en-US" altLang="en-US" sz="1900" baseline="30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CDC192-E9C4-64B2-0308-A94FBD44A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031" y="3252788"/>
            <a:ext cx="1981200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id="{9B8F3442-FD91-B298-FE13-AA2F7C030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Injective/surjective/bijective</a:t>
            </a:r>
            <a:endParaRPr lang="en-GB" altLang="en-US"/>
          </a:p>
        </p:txBody>
      </p:sp>
      <p:sp>
        <p:nvSpPr>
          <p:cNvPr id="366595" name="Rectangle 3">
            <a:extLst>
              <a:ext uri="{FF2B5EF4-FFF2-40B4-BE49-F238E27FC236}">
                <a16:creationId xmlns:a16="http://schemas.microsoft.com/office/drawing/2014/main" id="{112268C6-4613-E52A-0B98-3FD46CAB5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Injective</a:t>
            </a: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: a function f is injective if no two distinct elements of Dom(f) are mapped onto one and the same member of Cod(f)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	f(n) = n + 1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Surjective</a:t>
            </a: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: a function f is surjective provided that every element of Cod(f) is the value of f for at least one element of Dom(f). Cod(f) = Image(f) 	f(w) = </a:t>
            </a:r>
            <a:r>
              <a:rPr lang="en-US" altLang="en-US" sz="2000" dirty="0" err="1">
                <a:solidFill>
                  <a:schemeClr val="tx1"/>
                </a:solidFill>
                <a:sym typeface="Symbol" panose="05050102010706020507" pitchFamily="18" charset="2"/>
              </a:rPr>
              <a:t>w</a:t>
            </a:r>
            <a:r>
              <a:rPr lang="en-US" altLang="en-US" sz="2000" baseline="30000" dirty="0" err="1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endParaRPr lang="en-US" altLang="en-US" sz="2000" baseline="30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chemeClr val="tx1"/>
                </a:solidFill>
                <a:sym typeface="Symbol" panose="05050102010706020507" pitchFamily="18" charset="2"/>
              </a:rPr>
              <a:t>Bijective</a:t>
            </a: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: a function that is both injective and surjective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Is the word reversal function bijective? Why (not)?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Is the constant-j function injective? Surjective? Bijective?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ADC72A-3D50-D0E2-30FB-7830F290E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03189"/>
            <a:ext cx="3267075" cy="1400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989D4E-7B8F-7801-9498-65F76C001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4536464"/>
            <a:ext cx="2447925" cy="1866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DBDB46-DD23-860E-E424-5054AEB99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206" y="4736123"/>
            <a:ext cx="333375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>
            <a:extLst>
              <a:ext uri="{FF2B5EF4-FFF2-40B4-BE49-F238E27FC236}">
                <a16:creationId xmlns:a16="http://schemas.microsoft.com/office/drawing/2014/main" id="{41E2B522-6D23-D9BF-F86B-115286E81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Polynomial Functions</a:t>
            </a:r>
            <a:endParaRPr lang="en-GB" altLang="en-US"/>
          </a:p>
        </p:txBody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20F639FA-3530-CB81-B2E2-038D4DF9D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Polynomial in n of degree k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	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 + 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k-1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k-1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 + 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k-2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k-2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+…+a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+a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	k = natural number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	a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k 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= coefficient: integer constant with 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=0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2n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5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+2n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+4n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-16n+7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		polynomial n of degree 5 with coefficients 	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5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=2, 	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4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=0, 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=2, 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=4, 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=-16,a</a:t>
            </a:r>
            <a:r>
              <a:rPr lang="en-US" altLang="en-US" sz="2000" baseline="-2500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=7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		2n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5: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 term of the highest degree</a:t>
            </a:r>
          </a:p>
          <a:p>
            <a:pPr>
              <a:lnSpc>
                <a:spcPct val="80000"/>
              </a:lnSpc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Definition of the function: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	f: NN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	f(n) = 2n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5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+2n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+4n</a:t>
            </a:r>
            <a:r>
              <a:rPr lang="en-US" altLang="en-US" sz="2000" baseline="30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000">
                <a:solidFill>
                  <a:schemeClr val="tx1"/>
                </a:solidFill>
                <a:sym typeface="Symbol" panose="05050102010706020507" pitchFamily="18" charset="2"/>
              </a:rPr>
              <a:t>-16n+7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>
            <a:extLst>
              <a:ext uri="{FF2B5EF4-FFF2-40B4-BE49-F238E27FC236}">
                <a16:creationId xmlns:a16="http://schemas.microsoft.com/office/drawing/2014/main" id="{555A4275-1FC0-5C92-F1C2-469611729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Defining functions by recursion</a:t>
            </a:r>
            <a:endParaRPr lang="en-GB" altLang="en-US"/>
          </a:p>
        </p:txBody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98091547-5BDA-0A80-E0BB-9CC3F2359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Sum:</a:t>
            </a:r>
          </a:p>
          <a:p>
            <a:pPr lvl="1">
              <a:buFontTx/>
              <a:buNone/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	sum(n,0) = n</a:t>
            </a:r>
          </a:p>
          <a:p>
            <a:pPr lvl="1">
              <a:buFontTx/>
              <a:buNone/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	sum(n,m+1) = succ(sum(n,m))</a:t>
            </a:r>
          </a:p>
          <a:p>
            <a:endParaRPr lang="en-US" altLang="en-US" sz="240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Multiplication:</a:t>
            </a:r>
          </a:p>
          <a:p>
            <a:pPr lvl="1">
              <a:buFontTx/>
              <a:buNone/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	mult(n,0) = 0</a:t>
            </a:r>
          </a:p>
          <a:p>
            <a:pPr lvl="1">
              <a:buFontTx/>
              <a:buNone/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	mult(n,m+1) = n + mult(n,m) = sum(n,mult(n,m))</a:t>
            </a:r>
          </a:p>
          <a:p>
            <a:pPr lvl="1">
              <a:buFontTx/>
              <a:buNone/>
            </a:pPr>
            <a:endParaRPr lang="en-US" altLang="en-US" sz="21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Trace these two functions with n=5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367BBD81-24BD-493A-F9E0-281BB0210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Graphs</a:t>
            </a:r>
            <a:endParaRPr lang="en-GB" altLang="en-US"/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8C9DFF2E-3F33-F8EF-5D2B-6FA85D2AF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51838" cy="4464050"/>
          </a:xfrm>
        </p:spPr>
        <p:txBody>
          <a:bodyPr/>
          <a:lstStyle/>
          <a:p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Graph G = (V,E)</a:t>
            </a:r>
          </a:p>
          <a:p>
            <a:pPr lvl="1"/>
            <a:r>
              <a:rPr lang="en-US" altLang="en-US" sz="2100">
                <a:solidFill>
                  <a:schemeClr val="tx1"/>
                </a:solidFill>
                <a:sym typeface="Wingdings" panose="05000000000000000000" pitchFamily="2" charset="2"/>
              </a:rPr>
              <a:t>A pair consisting of a </a:t>
            </a:r>
            <a:r>
              <a:rPr lang="en-US" altLang="en-US" sz="2100" b="1">
                <a:solidFill>
                  <a:schemeClr val="tx1"/>
                </a:solidFill>
                <a:sym typeface="Wingdings" panose="05000000000000000000" pitchFamily="2" charset="2"/>
              </a:rPr>
              <a:t>vertex/node</a:t>
            </a:r>
            <a:r>
              <a:rPr lang="en-US" altLang="en-US" sz="2100">
                <a:solidFill>
                  <a:schemeClr val="tx1"/>
                </a:solidFill>
                <a:sym typeface="Wingdings" panose="05000000000000000000" pitchFamily="2" charset="2"/>
              </a:rPr>
              <a:t> set V and an </a:t>
            </a:r>
            <a:r>
              <a:rPr lang="en-US" altLang="en-US" sz="2100" b="1">
                <a:solidFill>
                  <a:schemeClr val="tx1"/>
                </a:solidFill>
                <a:sym typeface="Wingdings" panose="05000000000000000000" pitchFamily="2" charset="2"/>
              </a:rPr>
              <a:t>edge/arc</a:t>
            </a:r>
            <a:r>
              <a:rPr lang="en-US" altLang="en-US" sz="2100">
                <a:solidFill>
                  <a:schemeClr val="tx1"/>
                </a:solidFill>
                <a:sym typeface="Wingdings" panose="05000000000000000000" pitchFamily="2" charset="2"/>
              </a:rPr>
              <a:t> set E</a:t>
            </a:r>
          </a:p>
          <a:p>
            <a:pPr lvl="1">
              <a:buFontTx/>
              <a:buNone/>
            </a:pPr>
            <a:r>
              <a:rPr lang="en-US" altLang="en-US" sz="2100">
                <a:solidFill>
                  <a:schemeClr val="tx1"/>
                </a:solidFill>
                <a:sym typeface="Wingdings" panose="05000000000000000000" pitchFamily="2" charset="2"/>
              </a:rPr>
              <a:t>	V = {a,b,c,d,e}</a:t>
            </a:r>
          </a:p>
          <a:p>
            <a:pPr lvl="1">
              <a:buFontTx/>
              <a:buNone/>
            </a:pPr>
            <a:r>
              <a:rPr lang="en-US" altLang="en-US" sz="2100">
                <a:solidFill>
                  <a:schemeClr val="tx1"/>
                </a:solidFill>
                <a:sym typeface="Wingdings" panose="05000000000000000000" pitchFamily="2" charset="2"/>
              </a:rPr>
              <a:t>	E = {&lt;a,c&gt;,&lt;c,d&gt;,&lt;d,e&gt;,&lt;e,c&gt;,&lt;c,b&gt;,&lt;b,a&gt;}</a:t>
            </a:r>
          </a:p>
        </p:txBody>
      </p:sp>
      <p:sp>
        <p:nvSpPr>
          <p:cNvPr id="394244" name="Oval 4">
            <a:extLst>
              <a:ext uri="{FF2B5EF4-FFF2-40B4-BE49-F238E27FC236}">
                <a16:creationId xmlns:a16="http://schemas.microsoft.com/office/drawing/2014/main" id="{F8968A69-3E81-431D-930F-BE92AA1F0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3789363"/>
            <a:ext cx="322262" cy="346075"/>
          </a:xfrm>
          <a:prstGeom prst="ellipse">
            <a:avLst/>
          </a:prstGeom>
          <a:solidFill>
            <a:srgbClr val="7E002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182880" anchor="ctr"/>
          <a:lstStyle/>
          <a:p>
            <a:pPr algn="ctr"/>
            <a:r>
              <a:rPr lang="en-US" altLang="en-US"/>
              <a:t>a</a:t>
            </a:r>
            <a:endParaRPr lang="en-GB" altLang="en-US"/>
          </a:p>
        </p:txBody>
      </p:sp>
      <p:sp>
        <p:nvSpPr>
          <p:cNvPr id="394246" name="Oval 6">
            <a:extLst>
              <a:ext uri="{FF2B5EF4-FFF2-40B4-BE49-F238E27FC236}">
                <a16:creationId xmlns:a16="http://schemas.microsoft.com/office/drawing/2014/main" id="{C018715F-BA4F-80E1-9131-284DAE175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789363"/>
            <a:ext cx="322262" cy="346075"/>
          </a:xfrm>
          <a:prstGeom prst="ellipse">
            <a:avLst/>
          </a:prstGeom>
          <a:solidFill>
            <a:srgbClr val="7E002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182880" anchor="ctr"/>
          <a:lstStyle/>
          <a:p>
            <a:pPr algn="ctr"/>
            <a:r>
              <a:rPr lang="en-US" altLang="en-US"/>
              <a:t>d</a:t>
            </a:r>
            <a:endParaRPr lang="en-GB" altLang="en-US"/>
          </a:p>
        </p:txBody>
      </p:sp>
      <p:sp>
        <p:nvSpPr>
          <p:cNvPr id="394247" name="Oval 7">
            <a:extLst>
              <a:ext uri="{FF2B5EF4-FFF2-40B4-BE49-F238E27FC236}">
                <a16:creationId xmlns:a16="http://schemas.microsoft.com/office/drawing/2014/main" id="{5D51F443-B430-169A-5DE8-DAAAFCD4C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5013325"/>
            <a:ext cx="322262" cy="346075"/>
          </a:xfrm>
          <a:prstGeom prst="ellipse">
            <a:avLst/>
          </a:prstGeom>
          <a:solidFill>
            <a:srgbClr val="7E002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182880" anchor="ctr"/>
          <a:lstStyle/>
          <a:p>
            <a:pPr algn="ctr"/>
            <a:r>
              <a:rPr lang="en-US" altLang="en-US"/>
              <a:t>b</a:t>
            </a:r>
            <a:endParaRPr lang="en-GB" altLang="en-US"/>
          </a:p>
        </p:txBody>
      </p:sp>
      <p:sp>
        <p:nvSpPr>
          <p:cNvPr id="394248" name="Oval 8">
            <a:extLst>
              <a:ext uri="{FF2B5EF4-FFF2-40B4-BE49-F238E27FC236}">
                <a16:creationId xmlns:a16="http://schemas.microsoft.com/office/drawing/2014/main" id="{6ECAF18E-248A-5FF1-7CC0-BE5809E1D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013325"/>
            <a:ext cx="322262" cy="346075"/>
          </a:xfrm>
          <a:prstGeom prst="ellipse">
            <a:avLst/>
          </a:prstGeom>
          <a:solidFill>
            <a:srgbClr val="7E002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182880" anchor="ctr"/>
          <a:lstStyle/>
          <a:p>
            <a:pPr algn="ctr"/>
            <a:r>
              <a:rPr lang="en-US" altLang="en-US"/>
              <a:t>e</a:t>
            </a:r>
            <a:endParaRPr lang="en-GB" altLang="en-US"/>
          </a:p>
        </p:txBody>
      </p:sp>
      <p:sp>
        <p:nvSpPr>
          <p:cNvPr id="394249" name="Oval 9">
            <a:extLst>
              <a:ext uri="{FF2B5EF4-FFF2-40B4-BE49-F238E27FC236}">
                <a16:creationId xmlns:a16="http://schemas.microsoft.com/office/drawing/2014/main" id="{C3479828-EF10-5110-4FF3-34E89C5CC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437063"/>
            <a:ext cx="322263" cy="346075"/>
          </a:xfrm>
          <a:prstGeom prst="ellipse">
            <a:avLst/>
          </a:prstGeom>
          <a:solidFill>
            <a:srgbClr val="7E002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bIns="182880" anchor="ctr"/>
          <a:lstStyle/>
          <a:p>
            <a:pPr algn="ctr"/>
            <a:r>
              <a:rPr lang="en-US" altLang="en-US"/>
              <a:t>c</a:t>
            </a:r>
            <a:endParaRPr lang="en-GB" altLang="en-US"/>
          </a:p>
        </p:txBody>
      </p:sp>
      <p:cxnSp>
        <p:nvCxnSpPr>
          <p:cNvPr id="394251" name="AutoShape 11">
            <a:extLst>
              <a:ext uri="{FF2B5EF4-FFF2-40B4-BE49-F238E27FC236}">
                <a16:creationId xmlns:a16="http://schemas.microsoft.com/office/drawing/2014/main" id="{4686397E-9FB8-4362-1AE2-BDB76B0577BC}"/>
              </a:ext>
            </a:extLst>
          </p:cNvPr>
          <p:cNvCxnSpPr>
            <a:cxnSpLocks noChangeShapeType="1"/>
            <a:stCxn id="394247" idx="0"/>
            <a:endCxn id="394244" idx="4"/>
          </p:cNvCxnSpPr>
          <p:nvPr/>
        </p:nvCxnSpPr>
        <p:spPr bwMode="auto">
          <a:xfrm flipV="1">
            <a:off x="2430463" y="4135438"/>
            <a:ext cx="0" cy="877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2" name="AutoShape 12">
            <a:extLst>
              <a:ext uri="{FF2B5EF4-FFF2-40B4-BE49-F238E27FC236}">
                <a16:creationId xmlns:a16="http://schemas.microsoft.com/office/drawing/2014/main" id="{0762DEB8-F635-AB92-4069-FCDEA37CE217}"/>
              </a:ext>
            </a:extLst>
          </p:cNvPr>
          <p:cNvCxnSpPr>
            <a:cxnSpLocks noChangeShapeType="1"/>
            <a:stCxn id="394244" idx="5"/>
            <a:endCxn id="394249" idx="1"/>
          </p:cNvCxnSpPr>
          <p:nvPr/>
        </p:nvCxnSpPr>
        <p:spPr bwMode="auto">
          <a:xfrm>
            <a:off x="2543175" y="4084638"/>
            <a:ext cx="781050" cy="403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3" name="AutoShape 13">
            <a:extLst>
              <a:ext uri="{FF2B5EF4-FFF2-40B4-BE49-F238E27FC236}">
                <a16:creationId xmlns:a16="http://schemas.microsoft.com/office/drawing/2014/main" id="{A87282A7-1163-7C0D-3BAF-4146D1416375}"/>
              </a:ext>
            </a:extLst>
          </p:cNvPr>
          <p:cNvCxnSpPr>
            <a:cxnSpLocks noChangeShapeType="1"/>
            <a:stCxn id="394249" idx="3"/>
            <a:endCxn id="394247" idx="7"/>
          </p:cNvCxnSpPr>
          <p:nvPr/>
        </p:nvCxnSpPr>
        <p:spPr bwMode="auto">
          <a:xfrm flipH="1">
            <a:off x="2543175" y="4732338"/>
            <a:ext cx="781050" cy="3317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5" name="AutoShape 15">
            <a:extLst>
              <a:ext uri="{FF2B5EF4-FFF2-40B4-BE49-F238E27FC236}">
                <a16:creationId xmlns:a16="http://schemas.microsoft.com/office/drawing/2014/main" id="{60EB047C-B32C-7F32-9A3F-31C1A159957E}"/>
              </a:ext>
            </a:extLst>
          </p:cNvPr>
          <p:cNvCxnSpPr>
            <a:cxnSpLocks noChangeShapeType="1"/>
            <a:stCxn id="394249" idx="7"/>
            <a:endCxn id="394246" idx="2"/>
          </p:cNvCxnSpPr>
          <p:nvPr/>
        </p:nvCxnSpPr>
        <p:spPr bwMode="auto">
          <a:xfrm flipV="1">
            <a:off x="3551238" y="3962400"/>
            <a:ext cx="660400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6" name="AutoShape 16">
            <a:extLst>
              <a:ext uri="{FF2B5EF4-FFF2-40B4-BE49-F238E27FC236}">
                <a16:creationId xmlns:a16="http://schemas.microsoft.com/office/drawing/2014/main" id="{C5F52252-2242-EF5C-C077-D9D85BE99BD8}"/>
              </a:ext>
            </a:extLst>
          </p:cNvPr>
          <p:cNvCxnSpPr>
            <a:cxnSpLocks noChangeShapeType="1"/>
            <a:stCxn id="394246" idx="4"/>
            <a:endCxn id="394248" idx="0"/>
          </p:cNvCxnSpPr>
          <p:nvPr/>
        </p:nvCxnSpPr>
        <p:spPr bwMode="auto">
          <a:xfrm>
            <a:off x="4373563" y="4135438"/>
            <a:ext cx="0" cy="877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257" name="AutoShape 17">
            <a:extLst>
              <a:ext uri="{FF2B5EF4-FFF2-40B4-BE49-F238E27FC236}">
                <a16:creationId xmlns:a16="http://schemas.microsoft.com/office/drawing/2014/main" id="{8089BBA1-A6DA-5C3A-E862-E3502FF93FC3}"/>
              </a:ext>
            </a:extLst>
          </p:cNvPr>
          <p:cNvCxnSpPr>
            <a:cxnSpLocks noChangeShapeType="1"/>
            <a:stCxn id="394248" idx="1"/>
            <a:endCxn id="394249" idx="5"/>
          </p:cNvCxnSpPr>
          <p:nvPr/>
        </p:nvCxnSpPr>
        <p:spPr bwMode="auto">
          <a:xfrm flipH="1" flipV="1">
            <a:off x="3551238" y="4732338"/>
            <a:ext cx="708025" cy="3317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>
            <a:extLst>
              <a:ext uri="{FF2B5EF4-FFF2-40B4-BE49-F238E27FC236}">
                <a16:creationId xmlns:a16="http://schemas.microsoft.com/office/drawing/2014/main" id="{8E284E16-E0B6-00B2-0311-FBDE0D6E5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  <a:endParaRPr lang="en-GB" altLang="en-US"/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0F5762A4-26CE-9876-21B8-B461A0C28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51838" cy="4464050"/>
          </a:xfrm>
        </p:spPr>
        <p:txBody>
          <a:bodyPr/>
          <a:lstStyle/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Directed graphs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(digraphs)</a:t>
            </a:r>
          </a:p>
          <a:p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An edge &lt;v,w&gt; from vertex v to vertex w in digraph G is </a:t>
            </a:r>
            <a:r>
              <a:rPr lang="en-US" altLang="en-US" sz="2400" b="1" i="1">
                <a:solidFill>
                  <a:schemeClr val="tx1"/>
                </a:solidFill>
                <a:sym typeface="Symbol" panose="05050102010706020507" pitchFamily="18" charset="2"/>
              </a:rPr>
              <a:t>incident</a:t>
            </a:r>
            <a:r>
              <a:rPr lang="en-US" altLang="en-US" sz="2400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upon v and w. Vertex v is the </a:t>
            </a:r>
            <a:r>
              <a:rPr lang="en-US" altLang="en-US" sz="2400" b="1" i="1">
                <a:solidFill>
                  <a:schemeClr val="tx1"/>
                </a:solidFill>
                <a:sym typeface="Symbol" panose="05050102010706020507" pitchFamily="18" charset="2"/>
              </a:rPr>
              <a:t>tail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of the edge and vertex w is </a:t>
            </a:r>
            <a:r>
              <a:rPr lang="en-US" altLang="en-US" sz="2400" b="1" i="1">
                <a:solidFill>
                  <a:schemeClr val="tx1"/>
                </a:solidFill>
                <a:sym typeface="Symbol" panose="05050102010706020507" pitchFamily="18" charset="2"/>
              </a:rPr>
              <a:t>head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of the edge</a:t>
            </a:r>
          </a:p>
          <a:p>
            <a:pPr lvl="1"/>
            <a:r>
              <a:rPr lang="en-US" altLang="en-US" sz="2100">
                <a:solidFill>
                  <a:schemeClr val="tx1"/>
                </a:solidFill>
                <a:sym typeface="Wingdings" panose="05000000000000000000" pitchFamily="2" charset="2"/>
              </a:rPr>
              <a:t>w is the successor of v</a:t>
            </a:r>
          </a:p>
          <a:p>
            <a:pPr lvl="1"/>
            <a:r>
              <a:rPr lang="en-US" altLang="en-US" sz="2100">
                <a:solidFill>
                  <a:schemeClr val="tx1"/>
                </a:solidFill>
                <a:sym typeface="Wingdings" panose="05000000000000000000" pitchFamily="2" charset="2"/>
              </a:rPr>
              <a:t>Self-loop: tail = head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02993E-F9F4-217E-6E7D-5FC52DCA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504" y="4380401"/>
            <a:ext cx="2628900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id="{2D71F6AB-BA98-3F7A-9C6D-4085CE442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  <a:endParaRPr lang="en-GB" altLang="en-US"/>
          </a:p>
        </p:txBody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0D4368A8-9015-0DFC-1199-12CBFE845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51838" cy="4464050"/>
          </a:xfrm>
        </p:spPr>
        <p:txBody>
          <a:bodyPr/>
          <a:lstStyle/>
          <a:p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 finite path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within a digraph is a sequence of edges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…e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such that for any two consecutive edges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and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k+1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with 1k&lt;n the head of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k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is the tail of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k+1</a:t>
            </a:r>
          </a:p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Length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of a path = number of edges = n</a:t>
            </a:r>
          </a:p>
          <a:p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If P =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…e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and e =&lt;v,w&gt; is an edge within P, then P is said to </a:t>
            </a:r>
            <a:r>
              <a:rPr lang="en-US" altLang="en-US" sz="2400" b="1" i="1">
                <a:solidFill>
                  <a:schemeClr val="tx1"/>
                </a:solidFill>
                <a:sym typeface="Symbol" panose="05050102010706020507" pitchFamily="18" charset="2"/>
              </a:rPr>
              <a:t>traverse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e and </a:t>
            </a:r>
            <a:r>
              <a:rPr lang="en-US" altLang="en-US" sz="2400" b="1" i="1">
                <a:solidFill>
                  <a:schemeClr val="tx1"/>
                </a:solidFill>
                <a:sym typeface="Symbol" panose="05050102010706020507" pitchFamily="18" charset="2"/>
              </a:rPr>
              <a:t>visit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v and w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968C2B90-2578-322C-B115-A9DEA5CC6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  <a:endParaRPr lang="en-GB" altLang="en-US"/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6E58FEB1-22CB-579A-AAB5-F85CCCF4D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51838" cy="4464050"/>
          </a:xfrm>
        </p:spPr>
        <p:txBody>
          <a:bodyPr/>
          <a:lstStyle/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Closed path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within a digraph: finite path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…e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such that the tail of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1 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is identical with the head of e</a:t>
            </a:r>
            <a:r>
              <a:rPr lang="en-US" altLang="en-U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</a:p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Cycle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within a digraph: closed path where</a:t>
            </a:r>
          </a:p>
          <a:p>
            <a:pPr lvl="1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No edge is retraversed</a:t>
            </a:r>
          </a:p>
          <a:p>
            <a:pPr lvl="1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No vertex except the initial one is visited more than once</a:t>
            </a:r>
          </a:p>
          <a:p>
            <a:pPr lvl="1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Initial vertex is visited exactly twice</a:t>
            </a:r>
          </a:p>
          <a:p>
            <a:pPr lvl="1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Cyclic: subsequence of path P is a cycle</a:t>
            </a:r>
          </a:p>
          <a:p>
            <a:pPr lvl="1"/>
            <a:r>
              <a:rPr lang="en-US" altLang="en-US" sz="2100">
                <a:solidFill>
                  <a:schemeClr val="tx1"/>
                </a:solidFill>
                <a:sym typeface="Symbol" panose="05050102010706020507" pitchFamily="18" charset="2"/>
              </a:rPr>
              <a:t>Acyclic: subsequence of path P is not a cycle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1BC7BC81-1E77-6706-657D-C9DD30380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  <a:endParaRPr lang="en-GB" altLang="en-US"/>
          </a:p>
        </p:txBody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7655F838-D332-7637-C856-58CB8AB2E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51838" cy="4464050"/>
          </a:xfrm>
        </p:spPr>
        <p:txBody>
          <a:bodyPr/>
          <a:lstStyle/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Indegree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of a vertex v within a digraph: number of distinct edges e such that v is the head of e</a:t>
            </a:r>
          </a:p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Outdegree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of a vertex v within a digraph: number of distinct edges e such that v is the tail of e</a:t>
            </a:r>
          </a:p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Degree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of vertex v is the sum of its indegree and outdegree</a:t>
            </a:r>
          </a:p>
          <a:p>
            <a:endParaRPr lang="en-US" altLang="en-US" sz="240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What is the degree of a self-loop on vertex v?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>
            <a:extLst>
              <a:ext uri="{FF2B5EF4-FFF2-40B4-BE49-F238E27FC236}">
                <a16:creationId xmlns:a16="http://schemas.microsoft.com/office/drawing/2014/main" id="{990DA186-92F5-7159-2F8A-8091FAC3C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  <a:endParaRPr lang="en-GB" altLang="en-US"/>
          </a:p>
        </p:txBody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6E62A3F4-81DF-2A1F-B73D-008253379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51838" cy="4464050"/>
          </a:xfrm>
        </p:spPr>
        <p:txBody>
          <a:bodyPr/>
          <a:lstStyle/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Sink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: vertex of outdegree 0 (ie no successors)</a:t>
            </a:r>
          </a:p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Source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: vertex with indegree of 0</a:t>
            </a:r>
          </a:p>
        </p:txBody>
      </p:sp>
      <p:sp>
        <p:nvSpPr>
          <p:cNvPr id="481285" name="Rectangle 5">
            <a:extLst>
              <a:ext uri="{FF2B5EF4-FFF2-40B4-BE49-F238E27FC236}">
                <a16:creationId xmlns:a16="http://schemas.microsoft.com/office/drawing/2014/main" id="{ED6253A1-9AAF-922D-A72A-56413F3F5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636838"/>
            <a:ext cx="4067175" cy="229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 Identify sinks in Figure 0.7.3</a:t>
            </a:r>
          </a:p>
          <a:p>
            <a:pPr>
              <a:spcBef>
                <a:spcPct val="20000"/>
              </a:spcBef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1800" baseline="0">
                <a:solidFill>
                  <a:srgbClr val="FF99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b,e,c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 Identify sources in Figure 0.7.3</a:t>
            </a:r>
          </a:p>
          <a:p>
            <a:pPr>
              <a:spcBef>
                <a:spcPct val="20000"/>
              </a:spcBef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1800" baseline="0">
                <a:solidFill>
                  <a:srgbClr val="FF99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f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 What is the degree of d in    	Figure 0.7.3</a:t>
            </a:r>
          </a:p>
          <a:p>
            <a:pPr>
              <a:spcBef>
                <a:spcPct val="20000"/>
              </a:spcBef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1800" baseline="0">
                <a:solidFill>
                  <a:srgbClr val="FF99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4</a:t>
            </a:r>
          </a:p>
        </p:txBody>
      </p:sp>
      <p:pic>
        <p:nvPicPr>
          <p:cNvPr id="481286" name="Picture 6">
            <a:extLst>
              <a:ext uri="{FF2B5EF4-FFF2-40B4-BE49-F238E27FC236}">
                <a16:creationId xmlns:a16="http://schemas.microsoft.com/office/drawing/2014/main" id="{10197BFE-0F4D-CAFA-5175-A9BC5D102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08275"/>
            <a:ext cx="4886325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>
            <a:extLst>
              <a:ext uri="{FF2B5EF4-FFF2-40B4-BE49-F238E27FC236}">
                <a16:creationId xmlns:a16="http://schemas.microsoft.com/office/drawing/2014/main" id="{7127E658-04CD-327D-993E-67E30CFD7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Weighted Graphs</a:t>
            </a:r>
            <a:endParaRPr lang="en-GB" altLang="en-US"/>
          </a:p>
        </p:txBody>
      </p:sp>
      <p:sp>
        <p:nvSpPr>
          <p:cNvPr id="482307" name="Rectangle 3">
            <a:extLst>
              <a:ext uri="{FF2B5EF4-FFF2-40B4-BE49-F238E27FC236}">
                <a16:creationId xmlns:a16="http://schemas.microsoft.com/office/drawing/2014/main" id="{BEA08BEA-C088-1454-BB4A-057738431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51838" cy="4032250"/>
          </a:xfrm>
        </p:spPr>
        <p:txBody>
          <a:bodyPr/>
          <a:lstStyle/>
          <a:p>
            <a:r>
              <a:rPr lang="en-US" altLang="en-US" sz="2400" b="1">
                <a:solidFill>
                  <a:schemeClr val="tx1"/>
                </a:solidFill>
                <a:sym typeface="Symbol" panose="05050102010706020507" pitchFamily="18" charset="2"/>
              </a:rPr>
              <a:t>Cost</a:t>
            </a:r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 is assigned to edges in the graph</a:t>
            </a:r>
          </a:p>
          <a:p>
            <a:r>
              <a:rPr lang="en-US" altLang="en-US" sz="2400">
                <a:solidFill>
                  <a:schemeClr val="tx1"/>
                </a:solidFill>
                <a:sym typeface="Symbol" panose="05050102010706020507" pitchFamily="18" charset="2"/>
              </a:rPr>
              <a:t>Cost of a path: sum of the weights assigned to the edges within that path</a:t>
            </a:r>
          </a:p>
        </p:txBody>
      </p:sp>
      <p:sp>
        <p:nvSpPr>
          <p:cNvPr id="482309" name="Rectangle 5">
            <a:extLst>
              <a:ext uri="{FF2B5EF4-FFF2-40B4-BE49-F238E27FC236}">
                <a16:creationId xmlns:a16="http://schemas.microsoft.com/office/drawing/2014/main" id="{E7E6399C-E0D9-1E41-29EC-64AEE96C9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141663"/>
            <a:ext cx="3059112" cy="185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What is the cost of path v1v4v5v3v4</a:t>
            </a:r>
          </a:p>
          <a:p>
            <a:pPr>
              <a:spcBef>
                <a:spcPct val="20000"/>
              </a:spcBef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1800" baseline="0">
                <a:solidFill>
                  <a:srgbClr val="FF9900"/>
                </a:solidFill>
                <a:latin typeface="Verdana" panose="020B0604030504040204" pitchFamily="34" charset="0"/>
                <a:sym typeface="Symbol" panose="05050102010706020507" pitchFamily="18" charset="2"/>
              </a:rPr>
              <a:t>23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1800" baseline="0">
                <a:latin typeface="Verdana" panose="020B0604030504040204" pitchFamily="34" charset="0"/>
                <a:sym typeface="Symbol" panose="05050102010706020507" pitchFamily="18" charset="2"/>
              </a:rPr>
              <a:t>Find a least cost path from v1 to v6. Is it unique?</a:t>
            </a:r>
          </a:p>
        </p:txBody>
      </p:sp>
      <p:pic>
        <p:nvPicPr>
          <p:cNvPr id="482310" name="Picture 6">
            <a:extLst>
              <a:ext uri="{FF2B5EF4-FFF2-40B4-BE49-F238E27FC236}">
                <a16:creationId xmlns:a16="http://schemas.microsoft.com/office/drawing/2014/main" id="{070063BD-7D87-3518-DEE8-7CCB1FFCF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24175"/>
            <a:ext cx="4635500" cy="242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26665EE0-2818-42ED-EEBE-FA4033672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Proof Techniques</a:t>
            </a:r>
            <a:endParaRPr lang="en-GB" altLang="en-US"/>
          </a:p>
        </p:txBody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id="{C9E459F5-737A-F50B-8363-9759B721C6B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557338"/>
            <a:ext cx="6962775" cy="355441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en-US" sz="2000" b="1">
                <a:solidFill>
                  <a:schemeClr val="tx1"/>
                </a:solidFill>
                <a:sym typeface="Symbol" panose="05050102010706020507" pitchFamily="18" charset="2"/>
              </a:rPr>
              <a:t>Conditional Proof</a:t>
            </a:r>
          </a:p>
          <a:p>
            <a:pPr lvl="1">
              <a:buFontTx/>
              <a:buNone/>
            </a:pPr>
            <a:r>
              <a:rPr lang="en-US" altLang="en-US" sz="1900">
                <a:solidFill>
                  <a:schemeClr val="tx1"/>
                </a:solidFill>
                <a:sym typeface="Symbol" panose="05050102010706020507" pitchFamily="18" charset="2"/>
              </a:rPr>
              <a:t>pq</a:t>
            </a:r>
          </a:p>
          <a:p>
            <a:pPr lvl="1">
              <a:buFontTx/>
              <a:buNone/>
            </a:pPr>
            <a:r>
              <a:rPr lang="en-US" altLang="en-US" sz="1900">
                <a:solidFill>
                  <a:schemeClr val="tx1"/>
                </a:solidFill>
                <a:sym typeface="Symbol" panose="05050102010706020507" pitchFamily="18" charset="2"/>
              </a:rPr>
              <a:t>	assume truth of the antecedent</a:t>
            </a:r>
          </a:p>
          <a:p>
            <a:pPr lvl="1">
              <a:buFontTx/>
              <a:buNone/>
            </a:pPr>
            <a:r>
              <a:rPr lang="en-US" altLang="en-US" sz="1900">
                <a:solidFill>
                  <a:schemeClr val="tx1"/>
                </a:solidFill>
                <a:sym typeface="Symbol" panose="05050102010706020507" pitchFamily="18" charset="2"/>
              </a:rPr>
              <a:t>	reason to the truth of consequent q</a:t>
            </a:r>
          </a:p>
          <a:p>
            <a:pPr lvl="1">
              <a:buFontTx/>
              <a:buNone/>
            </a:pPr>
            <a:endParaRPr lang="en-US" altLang="en-US" sz="19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n-US" altLang="en-US" sz="1900">
                <a:solidFill>
                  <a:schemeClr val="tx1"/>
                </a:solidFill>
                <a:sym typeface="Symbol" panose="05050102010706020507" pitchFamily="18" charset="2"/>
              </a:rPr>
              <a:t>If I drink too much alcohol, I can’t drive a car</a:t>
            </a:r>
          </a:p>
          <a:p>
            <a:pPr lvl="1">
              <a:buFontTx/>
              <a:buNone/>
            </a:pPr>
            <a:endParaRPr lang="en-US" altLang="en-US" sz="190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n-US" altLang="en-US" sz="1900">
                <a:solidFill>
                  <a:schemeClr val="tx1"/>
                </a:solidFill>
                <a:sym typeface="Symbol" panose="05050102010706020507" pitchFamily="18" charset="2"/>
              </a:rPr>
              <a:t>When I drink alcohol, the alcohol gets absorbed in my blood. My blood reaches my brain, where it will distort its functionality, reducing my coordination abilities. To drive a car I need coordination.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>
            <a:extLst>
              <a:ext uri="{FF2B5EF4-FFF2-40B4-BE49-F238E27FC236}">
                <a16:creationId xmlns:a16="http://schemas.microsoft.com/office/drawing/2014/main" id="{981B0FC7-3BD1-2748-E420-58D8A0332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Proof Techniques</a:t>
            </a:r>
            <a:endParaRPr lang="en-GB" altLang="en-US"/>
          </a:p>
        </p:txBody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D1335365-D411-4B41-76B4-8B3C9BAA81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649413"/>
            <a:ext cx="6962775" cy="355441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	Proof by contradiction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	11 is not a prime number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	if it is not a prime number, it must have a nontrivial factor. But it is not 2,3,4,5,6,7,8,9,10 and it can’t be larger than n. This is a contradiction, so 11 is a prime after all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17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700" dirty="0">
                <a:solidFill>
                  <a:schemeClr val="tx1"/>
                </a:solidFill>
                <a:sym typeface="Symbol" panose="05050102010706020507" pitchFamily="18" charset="2"/>
              </a:rPr>
              <a:t>Appropriate when p is unstructured. Then continue to prove that p is true. Derive a contradiction of the form q &amp; q. Having assumed p is true, continue to show that q &amp; q is true. Conclude then that p is not true, thereby showing p is true.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76FCC7-D476-7002-9143-9F108869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248123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ShortAnswers&quot;,&quot;ActivityType&quot;:1,&quot;Width&quot;:0.0,&quot;Height&quot;:0.0,&quot;Graphics&quot;:null,&quot;ActivityBase&quot;:{&quot;$type&quot;:&quot;ClassPoint2.Core.DTO.Activities.ShortAnswerActivity, ClassPoint2.Core&quot;,&quot;isMultipleSubmissionsAllowed&quot;:false,&quot;isNamesHidden&quot;:false,&quot;gradingInstructions&quot;:null,&quot;activityId&quot;:&quot;sa20250513102329831AFRB&quot;,&quot;activityType&quot;:&quot;Short Answer&quot;,&quot;countdown&quot;:0,&quot;StartWithSlide&quot;:false,&quot;CanMinimize&quot;:false,&quot;CanCountDown&quot;:false},&quot;IsLocked&quot;:false,&quot;IsMappedFromCp1&quot;:false,&quot;IsQuizMode&quot;:false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QUIZSLIDE" val="{&quot;question&quot;:&quot;Which of the following best describes the primary focus of the Theory of Computation?&quot;,&quot;questionType&quot;:&quot;mc&quot;,&quot;options&quot;:[&quot;To develop software applications that can perform tasks.&quot;,&quot;To analyze the graphical user interface of computers.&quot;,&quot;To understand the mathematical properties of computation.&quot;,&quot;To evaluate hardware designs for efficiency.&quot;],&quot;answer&quot;:&quot;2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C&quot;]},&quot;isQuizMode&quot;:false,&quot;correctPoints&quot;:null,&quot;correctSpeedBonus&quot;:null,&quot;HasCorrectAnswers&quot;:true,&quot;activityId&quot;:&quot;mc20250513104058095QJIF&quot;,&quot;activityType&quot;:&quot;Multiple Choice&quot;,&quot;countdown&quot;:0,&quot;StartWithSlide&quot;:false,&quot;CanMinimize&quot;:false,&quot;CanCountDown&quot;:false},&quot;IsLocked&quot;:false,&quot;IsMappedFromCp1&quot;:false,&quot;IsQuizMode&quot;:false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QUIZSLIDE" val="{&quot;question&quot;:&quot;Which of the following is a fundamental aspect of computability theory?&quot;,&quot;questionType&quot;:&quot;mc&quot;,&quot;options&quot;:[&quot;The development of new programming languages&quot;,&quot;Classifying problems as solvable or unsolvable&quot;,&quot;Creating user-friendly software applications&quot;,&quot;Enhancing computer hardware capabilities&quot;],&quot;answer&quot;:&quot;1&quot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B&quot;]},&quot;isQuizMode&quot;:false,&quot;correctPoints&quot;:null,&quot;correctSpeedBonus&quot;:null,&quot;HasCorrectAnswers&quot;:true,&quot;activityId&quot;:&quot;mc20250513105240640RUUV&quot;,&quot;activityType&quot;:&quot;Multiple Choice&quot;,&quot;countdown&quot;:0,&quot;StartWithSlide&quot;:false,&quot;CanMinimize&quot;:false,&quot;CanCountDown&quot;:false},&quot;IsLocked&quot;:false,&quot;IsMappedFromCp1&quot;:false,&quot;IsQuizMode&quot;:false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té">
  <a:themeElements>
    <a:clrScheme name="Clarté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Clarté.thmx</Template>
  <TotalTime>1474</TotalTime>
  <Words>4409</Words>
  <Application>Microsoft Office PowerPoint</Application>
  <PresentationFormat>On-screen Show (4:3)</PresentationFormat>
  <Paragraphs>478</Paragraphs>
  <Slides>56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Arial</vt:lpstr>
      <vt:lpstr>Calibri</vt:lpstr>
      <vt:lpstr>Calibri (Body)</vt:lpstr>
      <vt:lpstr>CMBX12</vt:lpstr>
      <vt:lpstr>CMR12</vt:lpstr>
      <vt:lpstr>CMSY10</vt:lpstr>
      <vt:lpstr>CMTI12</vt:lpstr>
      <vt:lpstr>Roboto</vt:lpstr>
      <vt:lpstr>Symbol</vt:lpstr>
      <vt:lpstr>Verdana</vt:lpstr>
      <vt:lpstr>Wingdings</vt:lpstr>
      <vt:lpstr>Clarté</vt:lpstr>
      <vt:lpstr>LECTURE one</vt:lpstr>
      <vt:lpstr>PowerPoint Presentation</vt:lpstr>
      <vt:lpstr>PowerPoint Presentation</vt:lpstr>
      <vt:lpstr>PowerPoint Presentation</vt:lpstr>
      <vt:lpstr>Course outline</vt:lpstr>
      <vt:lpstr>Course contents</vt:lpstr>
      <vt:lpstr>Practical</vt:lpstr>
      <vt:lpstr>Introduction</vt:lpstr>
      <vt:lpstr>PowerPoint Presentation</vt:lpstr>
      <vt:lpstr>PowerPoint Presentation</vt:lpstr>
      <vt:lpstr>Introduction</vt:lpstr>
      <vt:lpstr>Introduction</vt:lpstr>
      <vt:lpstr>Complexity</vt:lpstr>
      <vt:lpstr>Introduction</vt:lpstr>
      <vt:lpstr>PowerPoint Presentation</vt:lpstr>
      <vt:lpstr>PowerPoint Presentation</vt:lpstr>
      <vt:lpstr>Introduction</vt:lpstr>
      <vt:lpstr>introduction</vt:lpstr>
      <vt:lpstr>Discrete mathematics</vt:lpstr>
      <vt:lpstr>Sets</vt:lpstr>
      <vt:lpstr>Naming Sets</vt:lpstr>
      <vt:lpstr>Naming Sets</vt:lpstr>
      <vt:lpstr>Subsets</vt:lpstr>
      <vt:lpstr>Power sets</vt:lpstr>
      <vt:lpstr>Set forming</vt:lpstr>
      <vt:lpstr>Some laws/ de morgans laws</vt:lpstr>
      <vt:lpstr>Tuples</vt:lpstr>
      <vt:lpstr>Tuples</vt:lpstr>
      <vt:lpstr>Permutation</vt:lpstr>
      <vt:lpstr>Principle of Extensionality</vt:lpstr>
      <vt:lpstr>Disjoint sets</vt:lpstr>
      <vt:lpstr>Cardinality</vt:lpstr>
      <vt:lpstr>Partition</vt:lpstr>
      <vt:lpstr>Formal language</vt:lpstr>
      <vt:lpstr>Formal language</vt:lpstr>
      <vt:lpstr>Operations on words</vt:lpstr>
      <vt:lpstr>Operations on words</vt:lpstr>
      <vt:lpstr>Formal languages = sets</vt:lpstr>
      <vt:lpstr>Universal grammar</vt:lpstr>
      <vt:lpstr>Kleene-Closure Operator</vt:lpstr>
      <vt:lpstr>Mapping</vt:lpstr>
      <vt:lpstr>Language mapping</vt:lpstr>
      <vt:lpstr>Function</vt:lpstr>
      <vt:lpstr>Injective/surjective/bijective</vt:lpstr>
      <vt:lpstr>Polynomial Functions</vt:lpstr>
      <vt:lpstr>Defining functions by recursion</vt:lpstr>
      <vt:lpstr>Graphs</vt:lpstr>
      <vt:lpstr>Terminology</vt:lpstr>
      <vt:lpstr>Terminology</vt:lpstr>
      <vt:lpstr>Terminology</vt:lpstr>
      <vt:lpstr>Terminology</vt:lpstr>
      <vt:lpstr>Terminology</vt:lpstr>
      <vt:lpstr>Weighted Graphs</vt:lpstr>
      <vt:lpstr>Proof Techniques</vt:lpstr>
      <vt:lpstr>Proof Techniques</vt:lpstr>
      <vt:lpstr>Conclusion</vt:lpstr>
    </vt:vector>
  </TitlesOfParts>
  <Company>Privé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TEMPLATE</dc:title>
  <dc:creator>Claude Daleiden</dc:creator>
  <cp:lastModifiedBy>Kituku</cp:lastModifiedBy>
  <cp:revision>183</cp:revision>
  <dcterms:created xsi:type="dcterms:W3CDTF">2019-03-23T15:41:06Z</dcterms:created>
  <dcterms:modified xsi:type="dcterms:W3CDTF">2025-05-13T11:39:58Z</dcterms:modified>
</cp:coreProperties>
</file>